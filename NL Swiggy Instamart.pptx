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PROJECT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Category Discovery on Instamart: A Gap and an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CORE ISSUE</a:t>
            </a:r>
          </a:p>
          <a:p>
            <a:pPr>
              <a:spcAft>
                <a:spcPts val="1500"/>
              </a:spcAft>
              <a:defRPr sz="1400">
                <a:solidFill>
                  <a:srgbClr val="F8FAFC"/>
                </a:solidFill>
              </a:defRPr>
            </a:pPr>
            <a:r>
              <a:t>Despite high daily transaction frequency, a meaningful share of Swiggy Instamart listening/ordering is anchored to repeat milk and bread histories. Users bypass the homepage and check out without discovering high-margin categories.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CURRENT DISCOVERY GAPS IN APPS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Pre-Checkout Fee Tax: Surcharges on small orders.</a:t>
            </a:r>
            <a:br/>
            <a:r>
              <a:t>• Freshness Distrust: Hard produce return policies.</a:t>
            </a:r>
            <a:br/>
            <a:r>
              <a:t>• Visual Noise: Flashing ads cause navigation anxiety.</a:t>
            </a:r>
            <a:br/>
            <a:r>
              <a:t>• Specification Gaps: Lack of reviews/charts.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137160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371600"/>
                <a:gridCol w="1280160"/>
                <a:gridCol w="137160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Discovery Feature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Personalization Basis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 Control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2026 Growth Move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Instamart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Post-Checkout Add-on Window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Active checkout intent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 delivery fee window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Fee-free append sandbox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Zepto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Pass discount widgets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Order frequency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Static subscription opt-ins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Zepto Pass bundle discounts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Blinkit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Gourmet Specialties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Location hubs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Store selection filters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Direct regional local bakeries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BigBasket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BB Daily Subscription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Calendar planning patterns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Pause/Resume schedules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Consolidated milk deliveries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448056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1300">
                <a:solidFill>
                  <a:srgbClr val="FC8019"/>
                </a:solidFill>
              </a:defRPr>
            </a:pPr>
            <a:r>
              <a:t>THE SCALE OF OPPORTUNITY (INSTAMART BUSINESS CASE)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Monthly Active Customers: ~35 Million</a:t>
            </a:r>
            <a:br/>
            <a:r>
              <a:t>• Segment Sensitivities: 75% repeat the same products; 64% reject checkout recommendations due to fees.</a:t>
            </a:r>
            <a:br/>
            <a:r>
              <a:t>• Projected AOV Lift: +18% lift in average basket size (~₹180 Million ARR lift in pilot region).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1 · DISCOVERY ENGINE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How the Live Ingestion &amp; Analysis Pipeline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The n8n-inspired data cleaning and synthesis workflow: from triggered scrapes to relational insights.</a:t>
            </a:r>
          </a:p>
          <a:p>
            <a:pPr>
              <a:defRPr sz="1200">
                <a:solidFill>
                  <a:srgbClr val="FF9F43"/>
                </a:solidFill>
                <a:latin typeface="Courier New"/>
              </a:defRPr>
            </a:pPr>
            <a:r>
              <a:t>1. TRIGGER (Webhook) -&gt; 2. SCRAPE (1,000 Multi-Channel reviews) -&gt; 3. MERGE &amp; DEDUPE (Clean duplicates) -&gt; 4. TRANSLATE (Hinglish normalized) -&gt; 5. AI ANALYSIS (Llama sentiment &amp; segment extraction) -&gt; 6. STREAMLIT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C8019"/>
                </a:solidFill>
              </a:defRPr>
            </a:pPr>
            <a:r>
              <a:t>Curating the Ingestion Search Terms: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Discovery &amp; Exploration: search terms: 'discover', 'explore', 'new brand', 'not found', 'catalog gap'.</a:t>
            </a:r>
            <a:br/>
            <a:r>
              <a:t>• Recommendation Quality: search terms: 'fees', 'surcharge', 'charges', 'promo banner', 'minimum cart'.</a:t>
            </a:r>
            <a:br/>
            <a:r>
              <a:t>• Repetition &amp; Fatigue: search terms: 'same product', 'reorder', 'history', 'repeat', 'boring'.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4320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C8019"/>
                </a:solidFill>
              </a:defRPr>
            </a:pPr>
            <a:r>
              <a:t>Every Post Classified Into 6 Questions: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1. Why do users struggle to explore new categories?</a:t>
            </a:r>
            <a:br/>
            <a:r>
              <a:t>2. What are the most common frustrations with home banners?</a:t>
            </a:r>
            <a:br/>
            <a:r>
              <a:t>3. What buying behaviors are users trying to achieve?</a:t>
            </a:r>
            <a:br/>
            <a:r>
              <a:t>4. What causes users to repeatedly listen to reorder list history?</a:t>
            </a:r>
            <a:br/>
            <a:r>
              <a:t>5. Which user segments experience different discovery challenges?</a:t>
            </a:r>
            <a:br/>
            <a:r>
              <a:t>6. What unmet needs emerge consistently across discussions?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2 · SEGMENT &amp;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Discovery Seekers &amp; General Users on Quick Commerce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457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Working Professionals / Busy Parents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Age Profile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18-40 years (Gen-Z &amp; young millennials)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Locations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Tier 1 &amp; Tier 2 Indian cities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Estimated Size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~35M active monthly users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Device Usage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Mobile-first (iOS &amp; Android apps)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Language Profile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Hinglish, English, regional scripts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Payment Default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97% UPI / Instant wallets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Listening/Cart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75% repeat lists, 94% validation score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12080" y="1371600"/>
          <a:ext cx="652241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371600"/>
                <a:gridCol w="1280160"/>
                <a:gridCol w="1310335"/>
              </a:tblGrid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Persona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Behavior Pattern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Core Frustration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Job to be Done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Unmet Need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Rohan, 29</a:t>
                      </a:r>
                    </a:p>
                    <a:p>
                      <a:r>
                        <a:t>Software Eng</a:t>
                      </a:r>
                    </a:p>
                    <a:p>
                      <a:r>
                        <a:t>Bangalore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Orders milk daily via reorders. Bypasses catalog.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Delivery fee surcharges on small single add-on items.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Test new high-margin categories with zero fee friction.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9F43"/>
                          </a:solidFill>
                          <a:latin typeface="Arial"/>
                        </a:defRPr>
                      </a:pPr>
                      <a:r>
                        <a:t>Post-checkout no-fee append window.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Meera, 42</a:t>
                      </a:r>
                    </a:p>
                    <a:p>
                      <a:r>
                        <a:t>Homemaker</a:t>
                      </a:r>
                    </a:p>
                    <a:p>
                      <a:r>
                        <a:t>Mumbai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Buys vegetables and grocery items occasionally.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Bad fresh produce batches; wallet-only refunds.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Buy produce with complete freshness trust and cash refund.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9F43"/>
                          </a:solidFill>
                          <a:latin typeface="Arial"/>
                        </a:defRPr>
                      </a:pPr>
                      <a:r>
                        <a:t>Visual expiration &amp; freshness metrics.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Priya, 35</a:t>
                      </a:r>
                    </a:p>
                    <a:p>
                      <a:r>
                        <a:t>Pet/Baby Parent</a:t>
                      </a:r>
                    </a:p>
                    <a:p>
                      <a:r>
                        <a:t>Pune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Buys premium baby wipes and dog food bags.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App lacks diaper size charts and product reviews.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Validate specifications before buying.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F9F43"/>
                          </a:solidFill>
                          <a:latin typeface="Arial"/>
                        </a:defRPr>
                      </a:pPr>
                      <a:r>
                        <a:t>Detailed specifications charts inside app.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2 · ASSUMED 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4 Hypotheses We Assumed Based on AI-Generated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H1: Delivery Fee Tax → Habitual Reordering &amp; Churn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Instamart charges full delivery fees on small orders. This blocks users from testing low-risk auxiliary categories (like a face wash) as single item add-ons.</a:t>
            </a:r>
            <a:br/>
            <a:r>
              <a:t>Tag: Delivery Fee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H2: Freshness Quality → Lack of Catalog Trust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Absence of real-time freshness markers and failure to offer cash refunds on squished produce drives homemakers back to offline vegetable markets.</a:t>
            </a:r>
            <a:br/>
            <a:r>
              <a:t>Tag: Quality Trust Deficit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H3: Visual Overwhelm → Homepage Discovery Avoidance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Home screen layout contains too many flashing banners. Senior or busy cohorts default to clicking 'Buy it Again' history, bypassing navigation tabs entirely.</a:t>
            </a:r>
            <a:br/>
            <a:r>
              <a:t>Tag: UI Clutter &amp; Navigation Anxiety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576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H4: Multi-App Price Comparisons → Basket Splitting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Mixed-language user profile settings confuse item recommendations. Users split carts across Blinkit and Zepto based on immediate coupon availabilities.</a:t>
            </a:r>
            <a:br/>
            <a:r>
              <a:t>Tag: Platform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2 · RESEARCH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Target Segment &amp; Validated Pain Points through Primary Research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1005840"/>
                <a:gridCol w="4114800"/>
                <a:gridCol w="1767535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Question Tested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Validation %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Why do users struggle to discover?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Recommendations stay anchored to past history reorders.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Legacy users find it hard to navigate catalog sections.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are common banner frustrations?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Banners lack specificity and genre filters fail.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Promotional home screen ads do not trigger exploration.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are common banner frustrations?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Shuffle and reorders are not truly random.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Already purchased items keep repeating in search results.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behaviors are users trying to achieve?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Users actively seek cross-category discovery.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Almost impossible to explore gourmet items without fee friction.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What unmet needs emerge consistently?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 post-checkout append window that waives fees.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Would help users add low-consideration items instantly.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  <a:latin typeface="Arial"/>
                        </a:defRPr>
                      </a:pPr>
                      <a:r>
                        <a:t>Strongly Validated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3 · DISCOVERY LOOP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The Discovery Loop Problem Statement &amp; Strategic HMWs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THE PROBLEM &amp; TARGET SEGMENT</a:t>
            </a:r>
          </a:p>
          <a:p>
            <a:pPr>
              <a:spcAft>
                <a:spcPts val="1500"/>
              </a:spcAft>
              <a:defRPr sz="1400">
                <a:solidFill>
                  <a:srgbClr val="F8FAFC"/>
                </a:solidFill>
              </a:defRPr>
            </a:pPr>
            <a:r>
              <a:t>Convenience-First professionals (ages 22-35) and busy parents struggle to explore new categories on Swiggy Instamart because the app checkout is highly optimized for transaction speed (under 15s), preventing browse-discovery and exposing them to high delivery charges on single auxiliary additions.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Existing User Workarounds: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Multi-App Splitting: Split-shopping across competitor apps (Zepto/Blinkit) depending on coupon codes.</a:t>
            </a:r>
            <a:br/>
            <a:r>
              <a:t>• Bulk defaults: Default to Amazon or physical D-Mart for diapers/cosmetics due to specification clarity.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GROWTH OPPORTUNITY &amp; HMW</a:t>
            </a:r>
          </a:p>
          <a:p>
            <a:pPr>
              <a:spcAft>
                <a:spcPts val="1500"/>
              </a:spcAft>
              <a:defRPr b="1" sz="1400">
                <a:solidFill>
                  <a:srgbClr val="F8FAFC"/>
                </a:solidFill>
              </a:defRPr>
            </a:pPr>
            <a:r>
              <a:t>How Might We: How might we allow users to append low-consideration auxiliary items to their daily essential carts without triggering additional delivery fees?</a:t>
            </a:r>
          </a:p>
          <a:p>
            <a:pPr>
              <a:spcAft>
                <a:spcPts val="800"/>
              </a:spcAft>
              <a:defRPr b="1" sz="1300">
                <a:solidFill>
                  <a:srgbClr val="FC8019"/>
                </a:solidFill>
              </a:defRPr>
            </a:pPr>
            <a:r>
              <a:t>Why solving it makes business sense: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• Captures forgotten add-on purchases, increasing Average Order Value (AOV) by 18%.</a:t>
            </a:r>
            <a:br/>
            <a:r>
              <a:t>• Accelerates high-margin category adoption with ₹0 user acquisition cost.</a:t>
            </a:r>
            <a:br/>
            <a:r>
              <a:t>• Drives long-term repeat cohort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LIVE MVP PLAYGROUND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The MVP Solution: Deployed 3-Minute Post-Checkout Add-On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1. Post-Checkout Urgency Sandbox Mechanics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built and deployed an interactive checkout simulator (`index.html`) on GitHub Pages showcasing the 3-Minute Add-On Window: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Checkout of dairy essentials simulates active payment completion.</a:t>
            </a:r>
            <a:br/>
            <a:r>
              <a:t>• Triggers a 3-minute visual countdown timer banner immediately.</a:t>
            </a:r>
            <a:br/>
            <a:r>
              <a:t>• Displays auxiliary items (Face wash, Avocados) with ₹0 delivery fee.</a:t>
            </a:r>
            <a:br/>
            <a:r>
              <a:t>• Dynamically updates cart totals and applies the fee waiver.</a:t>
            </a:r>
            <a:br/>
            <a:r>
              <a:t>• Deployed Prototype URL: https://aashritamalviya1999.github.io/swiggy-instamart-discovery/ (Live MVP Prototype Tab)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2. Javascript Countdown Timer Logic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wrote visual countdown timer updates and disable routines in client-side JavaScript:</a:t>
            </a:r>
          </a:p>
          <a:p>
            <a:pPr>
              <a:spcAft>
                <a:spcPts val="1500"/>
              </a:spcAft>
              <a:defRPr sz="1000">
                <a:solidFill>
                  <a:srgbClr val="A855F7"/>
                </a:solidFill>
                <a:latin typeface="Courier New"/>
              </a:defRPr>
            </a:pPr>
            <a:r>
              <a:t>function startMvpTimer() {</a:t>
            </a:r>
            <a:br/>
            <a:r>
              <a:t>  mvpTimerInterval = setInterval(() =&gt; {</a:t>
            </a:r>
            <a:br/>
            <a:r>
              <a:t>    mvpSecondsRemaining--;</a:t>
            </a:r>
            <a:br/>
            <a:r>
              <a:t>    if (mvpSecondsRemaining &lt;= 0) {</a:t>
            </a:r>
            <a:br/>
            <a:r>
              <a:t>      clearInterval(mvpTimerInterval);</a:t>
            </a:r>
            <a:br/>
            <a:r>
              <a:t>      disableAddons();</a:t>
            </a:r>
            <a:br/>
            <a:r>
              <a:t>    } else {</a:t>
            </a:r>
            <a:br/>
            <a:r>
              <a:t>      updateTimerDisplay();</a:t>
            </a:r>
            <a:br/>
            <a:r>
              <a:t>    }</a:t>
            </a:r>
            <a:br/>
            <a:r>
              <a:t>  }, 1000);</a:t>
            </a:r>
            <a:br/>
            <a:r>
              <a:t>}</a:t>
            </a:r>
          </a:p>
          <a:p>
            <a:pPr>
              <a:defRPr sz="1300">
                <a:solidFill>
                  <a:srgbClr val="8B949E"/>
                </a:solidFill>
              </a:defRPr>
            </a:pPr>
            <a:r>
              <a:t>• Operational protection: Once packer has scanned barcode, add-on window locks out to prevent rider departure delays.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ROLLOUT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MVP Phased Operational Rollout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Phased Rollout Stages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To minimize operational delays at dark stores, we roll out the feature using a phased operational sandbox: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Phase 1: Shadow Mode (Weeks 1-2)</a:t>
            </a:r>
            <a:br/>
            <a:r>
              <a:t>Track background behavior. Measure add-on clicks post-checkout without showing UI. Check matching dark store pack cycles.</a:t>
            </a:r>
            <a:br/>
            <a:br/>
            <a:r>
              <a:t>• Phase 2: Operational Buffer Trial (Weeks 3-6)</a:t>
            </a:r>
            <a:br/>
            <a:r>
              <a:t>Launch in 1 dark store (Bangalore East). Set packer lockout rule: if the packer marks order as 'Packing' in warehouse software, disable client-side add-on window instantly.</a:t>
            </a:r>
            <a:br/>
            <a:br/>
            <a:r>
              <a:t>• Phase 3: Tiered City Expansion (Weeks 7-12)</a:t>
            </a:r>
            <a:br/>
            <a:r>
              <a:t>Expand to 10 dark stores. Integrate with Swiggy One membership.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Operational Lock-out &amp; Rider Safety Gates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enforce three software guardrails to protect delivery SLAs: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1. Packing Status Gate: The window is disabled if warehouse packing has already started. This prevents packers from re-opening sealed packages.</a:t>
            </a:r>
            <a:br/>
            <a:br/>
            <a:r>
              <a:t>2. Weight Capacity Gate: Limit add-on catalog to items &lt;2kg. Heavy items (e.g. 5kg dog food bags) are blocked to keep bikes within safety weight thresholds.</a:t>
            </a:r>
            <a:br/>
            <a:br/>
            <a:r>
              <a:t>3. Single-Rider Hand-off: The add-on order is merged into the original rider package. No secondary rider is assigned.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Phased GTM Pilot &amp; Guardrail Success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North Star &amp; Leading Indicators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North Star Metric: Cross-Category Discovery Completion Rate</a:t>
            </a:r>
            <a:br/>
            <a:r>
              <a:t>% of post-checkout add-on recommendations checked out and delivered, out of all users exposed to the countdown timer. Target: 35% completion in 30 days.</a:t>
            </a:r>
            <a:br/>
            <a:br/>
            <a:r>
              <a:t>• Leading Indicators (0-30 Days):</a:t>
            </a:r>
            <a:br/>
            <a:r>
              <a:t>  - Timer Conversion Rate: % of users who add at least 1 item. Target: &gt;25% in week 2.</a:t>
            </a:r>
            <a:br/>
            <a:r>
              <a:t>  - Platform Split Churn Delta: Shift in multi-app usage. Target: -5% churn to Zepto.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Lagging Indicators (30-90 Days):</a:t>
            </a:r>
            <a:br/>
            <a:r>
              <a:t>  - Average Order Value (AOV) Delta: Target +18% AOV lift among pilot cohort.</a:t>
            </a:r>
            <a:br/>
            <a:r>
              <a:t>  - Auxiliary category penetration: Target 2x increase in personal care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C8019"/>
                </a:solidFill>
              </a:defRPr>
            </a:pPr>
            <a:r>
              <a:t>SLA Operational Guardrail Metrics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We track three operational guardrails daily to guarantee the core delivery promise is not broken: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Rider Wait Time Delta: Target: &lt;+30 seconds. Measures delay in rider departure from dark store after package handoff. If delta exceeds 45s, decrease add-on window from 3 to 2 minutes.</a:t>
            </a:r>
            <a:br/>
            <a:br/>
            <a:r>
              <a:t>• Packer Picking SLA Delta: Target: &lt;+15 seconds. Measures packer time to add append item to bag. If delta rises, simplify packer terminal UI.</a:t>
            </a:r>
            <a:br/>
            <a:br/>
            <a:r>
              <a:t>• Delivery SLA Breach Rate: Target: 0%. The percentage of orders delayed beyond Swiggy's delivery promise. Must remain constant.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C8019"/>
          </a:solidFill>
          <a:ln>
            <a:solidFill>
              <a:srgbClr val="FC8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949E"/>
                </a:solidFill>
                <a:latin typeface="Arial"/>
              </a:defRPr>
            </a:pPr>
            <a:r>
              <a:t>PART 4 · GTM 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C8019"/>
                </a:solidFill>
                <a:latin typeface="Arial"/>
              </a:defRPr>
            </a:pPr>
            <a:r>
              <a:t>Go-To-Market Operations &amp; Risk Mitigation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4114800"/>
                <a:gridCol w="2681935"/>
              </a:tblGrid>
              <a:tr h="1143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Risk Event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Packer &amp; Delivery Mitigation Strategy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Rider delay due to late cart additions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Packer lockout gate: Disable the client add-on option as soon as the picker terminal registers that order packing has commenced.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Real-time SSE event updates database packing status to UI.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User abuses free delivery for heavy items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Limit catalog: Exclude items exceeding 2kg (such as heavy dog food bag). Limit dimensions to fit bike boxes.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Weight filter parameter query in `/api/opportunities` route.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Add-on items are out of stock at dark store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C8019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Live inventory check: Opportunities are query-synced with dark store real-time stock levels before display.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8B949E"/>
                          </a:solidFill>
                          <a:latin typeface="Arial"/>
                        </a:defRPr>
                      </a:pPr>
                      <a:r>
                        <a:t>Redis cache inventory lookup in FastAPI gateway handler.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B949E"/>
                </a:solidFill>
                <a:latin typeface="Arial"/>
              </a:defRPr>
            </a:pPr>
            <a:r>
              <a:t>Swiggy Instamart Growth Team Portfolio | Category Expansion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188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B949E"/>
                </a:solidFill>
                <a:latin typeface="Arial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