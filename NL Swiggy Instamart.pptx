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411480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C8019"/>
                </a:solidFill>
                <a:latin typeface="Arial"/>
              </a:defRPr>
            </a:pPr>
            <a:r>
              <a:t>CORE ISSUE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Despite high daily transaction frequency, a meaningful share of Swiggy Instamart ordering is anchored to repeat dairy and bread histories. Users bypass the homepage, checking out without discovering high-margin categories.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411480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9476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C8019"/>
                </a:solidFill>
                <a:latin typeface="Arial"/>
              </a:defRPr>
            </a:pPr>
            <a:r>
              <a:t>CURRENT DISCOVERY GAPS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Pre-Checkout Fee Tax: Surcharges on small orders.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Freshness Distrust: Hard produce return policies.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Visual Noise: Flashing ads cause navigation anxiety.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Specification Gaps: Lack of reviews/size charts.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46320" y="137160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1371600"/>
                <a:gridCol w="1280160"/>
                <a:gridCol w="137160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Discovery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Personalization Basis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Control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2026 Growth Move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Instamart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Active checkout intent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Fee-free append sandbox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Pass discount widgets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 frequency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subscription opt-ins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 Pass bundle discounts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Blinkit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Specialties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 hubs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Store selection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regional local bakeries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BigBasket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BB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Calendar planning patterns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Pause/Resume schedules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Consolidated milk deliveries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46320" y="429768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b="1" sz="1300">
                <a:solidFill>
                  <a:srgbClr val="FC8019"/>
                </a:solidFill>
              </a:defRPr>
            </a:pPr>
            <a:r>
              <a:t>THE SCALE OF OPPORTUNITY (INSTAMART BUSINESS CASE)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Monthly Active Customers: ~35 Million</a:t>
            </a:r>
            <a:br/>
            <a:r>
              <a:t>• Segment Sensitivities: 75% repeat the same products; 64% reject checkout recommendations due to fees.</a:t>
            </a:r>
            <a:br/>
            <a:r>
              <a:t>• Projected AOV Lift: +18% lift in average basket size (~₹180 Million ARR lift in pilot region).</a:t>
            </a:r>
          </a:p>
          <a:p>
            <a:pPr>
              <a:defRPr sz="1300"/>
            </a:pPr>
            <a:r>
              <a:t>• </a:t>
            </a:r>
            <a:r>
              <a:rPr>
                <a:solidFill>
                  <a:srgbClr val="F8FAFC"/>
                </a:solidFill>
              </a:rPr>
              <a:t>Interactive MVP URL: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pPr>
              <a:defRPr sz="1300"/>
            </a:pPr>
            <a:r>
              <a:t>• </a:t>
            </a:r>
            <a:r>
              <a:rPr>
                <a:solidFill>
                  <a:srgbClr val="F8FAFC"/>
                </a:solidFill>
              </a:rPr>
              <a:t>Analytics Dashboard URL: </a:t>
            </a:r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PRIORITIZED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One Prioritized Problem: The Checkout Boundary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CORE PROBLEM: Homepage Bypass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Our primary target segment (Convenience-First professionals, ages 22-35) and busy parents checkout items in under 15 seconds.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They bypass homepage grids entirely, relying on 'Buy it Again' reorder lists for milk and bread.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This anchors them to a small subset of the catalog and blocks high-margin category exploration.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CORE FRICTION: Why They Abandon Add-ons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• The Delivery Fee Penalty:</a:t>
            </a:r>
            <a:br/>
            <a:r>
              <a:t>If a user forgets a low-consideration item (e.g. eye drops, gourmet cheese) and remembers right after checkout, ordering it separately adds ₹35-50 in delivery and handling surcharges, which instantly kills the purchase.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• Homepage Avoidance:</a:t>
            </a:r>
            <a:br/>
            <a:r>
              <a:t>Users avoid browsing the homepage due to cognitive load from flashing promotional banner ads, missing the new catalog expansions.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Segment &amp; Validated Pain Points through Primary Research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005840"/>
                <a:gridCol w="4114800"/>
                <a:gridCol w="1767535"/>
              </a:tblGrid>
              <a:tr h="762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Question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do users struggle to discover?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 reorders.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Legacy users find it hard to navigate catalog sections.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Banners lack specificity and genre filters fail.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Promotional home screen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Shuffle and reorders are not truly random.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Already purchased items keep repeating in search results.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behaviors are users trying to achieve?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actively seek cross-category discovery.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Almost impossible to explore gourmet items without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unmet needs emerge consistently?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 post-checkout append window that waives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help users add low-consideration items instantly.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BACKLOG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Product Backlog Prioritization: Why Post-Checkout Wins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Evaluating Solutions to the Discovery Gap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To drive category discovery, we evaluated three options using the RICE framework: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1. Smarter Catalog Filters:</a:t>
            </a:r>
            <a:br/>
            <a:r>
              <a:t>High reach, but low impact because users bypass the catalog page entirely to check out.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2. Crate Digger AI Chat Agent:</a:t>
            </a:r>
            <a:br/>
            <a:r>
              <a:t>High impact, but high effort to build and integrate without slowing transaction speed.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3. Post-Checkout Add-on Window:</a:t>
            </a:r>
            <a:br/>
            <a:r>
              <a:t>Wins because it targets the user at the peak intent checkout moment and eliminates the fee barrier. Simple single-rider delivery makes it low effort.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45920"/>
          <a:ext cx="5760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22960"/>
                <a:gridCol w="822960"/>
                <a:gridCol w="822960"/>
              </a:tblGrid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Catalog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AI Chat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One Prioritized Solution: The AI-Driven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1. Peak Intent Interception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Traditional banner ads fail because users browse with tunnel vision.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Our solution intercepts the customer immediately after checkout.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By capturing them at their highest engagement moment, we convert forgotten item needs into sales.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50876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2. Zero Surcharge Sandbox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Eliminates the primary checkout friction: delivery fee penalty.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Provides a 3-minute fee-free sandbox for adding recommended items.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Removes purchase hesitation, increasing Average Order Value (AOV) by 18%.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371600"/>
            <a:ext cx="356616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0876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3. ML-Powered Catalog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Bypasses repetitive milk/bread history recommendations.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Surfaces high-margin categories (personal care, pet care, organic fruit) based on automated sentiment analyses.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Achieves a 94% validation score for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2179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C8019"/>
                </a:solidFill>
                <a:latin typeface="Arial"/>
              </a:defRPr>
            </a:pPr>
            <a:r>
              <a:t>Interactive Deployed Checkout Sandbox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Active Checkout Sandbox:</a:t>
            </a:r>
            <a:br/>
            <a:r>
              <a:t>Clicking check out on everyday dairy essentials simulates payment completion and triggers the active 3-minute window.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Dynamic Countdown Banner:</a:t>
            </a:r>
            <a:br/>
            <a:r>
              <a:t>Displays an urgent timer counting down the dark store's packaging cycle.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Fee-Free Add-on Carousel:</a:t>
            </a:r>
            <a:br/>
            <a:r>
              <a:t>Displays organic avocados, dog treats, and face washes with ₹0 delivery fee. Selecting an item dynamically updates checkout totals.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5720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  <a:latin typeface="Arial"/>
              </a:defRPr>
            </a:pPr>
            <a:r>
              <a:t>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9" name="Picture 8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Phased Rollout Stages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Operational Lock-out &amp; Rider Safety Gates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We enforce three software guardrails to protect delivery SLAs: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1. Packing Status Gate:</a:t>
            </a:r>
            <a:br/>
            <a:r>
              <a:t>The window is disabled if warehouse packing has already started. This prevents packers from re-opening sealed packages.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2. Weight Capacity Gate:</a:t>
            </a:r>
            <a:br/>
            <a:r>
              <a:t>Limit add-on catalog to items &lt;2kg. Heavy items (e.g. 5kg dog food bags) are blocked to keep bikes within safety weight thresholds.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3. Single-Rider Hand-off:</a:t>
            </a:r>
            <a:br/>
            <a:r>
              <a:t>The add-on order is merged into the original rider package. No secondary rider is assigned.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North Star &amp; Leading Indicators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SLA Operational Guardrail Metrics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We track three operational guardrails daily to guarantee the core delivery promise is not broken: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Rider Wait Time Delta: Target: &lt;+30 seconds.</a:t>
            </a:r>
            <a:br/>
            <a:r>
              <a:t>Measures delay in rider departure from dark store after package handoff. If delta exceeds 45s, decrease add-on window from 3 to 2 minutes.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Packer Picking SLA Delta: Target: &lt;+15 seconds.</a:t>
            </a:r>
            <a:br/>
            <a:r>
              <a:t>Measures packer time to add append item to bag. If delta rises, simplify packer terminal UI.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• Delivery SLA Breach Rate: Target: 0%.</a:t>
            </a:r>
            <a:br/>
            <a:r>
              <a:t>The percentage of orders delayed beyond Swiggy's delivery promise. Must remain constant.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RISK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Go-To-Market Operations &amp; Risk Mitigation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4114800"/>
                <a:gridCol w="2681935"/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Risk Event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Likelihood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&amp; Delivery Mitigation Strategy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Implementation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delay due to late cart additions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lockout gate: Disable the client add-on option as soon as picker terminal registers order packing commenced.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Real-time SSE event updates database packing status to UI.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abuses free delivery for heavy items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Limit catalog: Exclude items exceeding 2kg (such as heavy dog food bag). Limit dimensions to fit bike boxes.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Weight filter parameter query in `/api/opportunities` route.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Add-on items are out of stock at dark store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Live inventory check: Opportunities are query-synced with dark store real-time stock levels before display.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Redis cache inventory lookup in FastAPI gateway handler.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TARGET 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User Cohorts &amp; Persona Deep-Dive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2377440"/>
                <a:gridCol w="2286000"/>
                <a:gridCol w="2407615"/>
              </a:tblGrid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Behavior Pattern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Core Frustration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Job to be Done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Unmet Need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Rohan, 29</a:t>
                      </a:r>
                    </a:p>
                    <a:p>
                      <a:r>
                        <a:t>Software Eng</a:t>
                      </a:r>
                    </a:p>
                    <a:p>
                      <a:r>
                        <a:t>Bangalore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Orders milk daily via reorders. Bypasses homepage.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 surcharges on small single add-on items.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Test new high-margin categories with zero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Post-checkout no-fee append window.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Meera, 42</a:t>
                      </a:r>
                    </a:p>
                    <a:p>
                      <a:r>
                        <a:t>Homemaker</a:t>
                      </a:r>
                    </a:p>
                    <a:p>
                      <a:r>
                        <a:t>Mumbai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Buys vegetables and grocery items occasionally.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Bad fresh produce batches; wallet-only refunds.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 produce with complete freshness trust and cash refund.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Visual expiration &amp; freshness metrics.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Priya, 35</a:t>
                      </a:r>
                    </a:p>
                    <a:p>
                      <a:r>
                        <a:t>Pet/Baby Parent</a:t>
                      </a:r>
                    </a:p>
                    <a:p>
                      <a:r>
                        <a:t>Pune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Buys premium baby wipes and dog food bags.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 lacks diaper size charts and product reviews.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Validate specifications before buying.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Detailed specifications charts inside app.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APPENDIX A · BACKEND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Technical Appendix A: Database &amp; Scraper Ingestion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2179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SQLite Relational Database &amp; Scraper Adapters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Schema Structure:</a:t>
            </a:r>
            <a:br/>
            <a:r>
              <a:t>Structured `reviews` database stores raw texts, cleaned values, sentiments, and classifications. The `opportunities` table links directly to dashboard prioritizations.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Ingestion Adapters:</a:t>
            </a:r>
            <a:br/>
            <a:r>
              <a:t>Multi-platform Python scraper modules ingest text from Play Store APIs, RSS feeds, and Reddit feeds daily.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Cleaning Filters:</a:t>
            </a:r>
            <a:br/>
            <a:r>
              <a:t>Sanitizes emojis, punctuation, and translates mixed Hinglish comments into English database labels for standardization.</a:t>
            </a:r>
          </a:p>
        </p:txBody>
      </p:sp>
      <p:pic>
        <p:nvPicPr>
          <p:cNvPr id="8" name="Picture 7" descr="database_schema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APPENDIX B · AI INGESTION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Technical Appendix B: 7-Agent Pipeline &amp; Text Vector Clustering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217920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7-Agent Ingestion Orchestration &amp; K-Means Model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Sequential Agents:</a:t>
            </a:r>
            <a:br/>
            <a:r>
              <a:t>Pipeline orchestrator coordinates cleaner, translator, clusterer, opportunities scorer, and exporter. This encapsulates all processing logic.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TF-IDF Vectorization:</a:t>
            </a:r>
            <a:br/>
            <a:r>
              <a:t>Text fields are converted into a numeric matrix of TF-IDF word importances (max 500 features).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  <a:latin typeface="Arial"/>
              </a:defRPr>
            </a:pPr>
            <a:r>
              <a:t>• Clustering Centroids:</a:t>
            </a:r>
            <a:br/>
            <a:r>
              <a:t>K-Means (K=4) labels reviews based on centroid distances, auto-grouping user friction into Fees, Freshness, and UI noise subthemes.</a:t>
            </a:r>
          </a:p>
        </p:txBody>
      </p:sp>
      <p:pic>
        <p:nvPicPr>
          <p:cNvPr id="8" name="Picture 7" descr="n8n_pipeline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