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PROJECT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Category Discovery on Instamart: A Gap and an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CORE ISSUE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Despite high daily transaction frequency, a meaningful share of Swiggy Instamart ordering is anchored to repeat milk, bread, and egg histories. Users bypass the homepage, search for specific brands, and check out without discovering high-margin non-grocery items.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CURRENT DISCOVERY GAPS IN APPS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Pre-Checkout Fee Tax: Delivery fee triggers on small add-ons.</a:t>
            </a:r>
            <a:br/>
            <a:r>
              <a:t>• Visual Overwhelm: Flashing banners cause banner blindness.</a:t>
            </a:r>
            <a:br/>
            <a:r>
              <a:t>• Freshness Distrust: Hard produce return wallet credits cause friction.</a:t>
            </a:r>
            <a:br/>
            <a:r>
              <a:t>• Catalog Specification Gap: Lack of size charts (diapers) forces users to Amazon.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37160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45920"/>
                <a:gridCol w="1371600"/>
                <a:gridCol w="1280160"/>
                <a:gridCol w="1371600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Standout Discovery Feature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Personalization Basis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Control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2026 Growth Move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Instamart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Add-on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Active checkout intent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 delivery fee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Fee-free append sandbox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Pass discount widgets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 frequency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Static subscription opt-ins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Zepto Pass bundle discounts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Blinkit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 Specialty Brands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Location hubs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Store selection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Direct regional local bakeries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BigBasket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BB Daily Subscription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Calendar planning patterns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Pause/Resume schedules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Consolidated milk deliveries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846320" y="448056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b="1" sz="1300">
                <a:solidFill>
                  <a:srgbClr val="FC8019"/>
                </a:solidFill>
              </a:defRPr>
            </a:pPr>
            <a:r>
              <a:t>THE SCALE OF OPPORTUNITY (INSTAMART BUSINESS CASE)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Monthly Active Customers: ~35 Million</a:t>
            </a:r>
            <a:br/>
            <a:r>
              <a:t>• Segment Sensitivities: 75% repeat the same products; 64% reject checkout recommendations due to fees.</a:t>
            </a:r>
            <a:br/>
            <a:r>
              <a:t>• Projected AOV Lift: +18% lift in average basket size (~₹180 Million ARR lift in pilot region).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1 · DISCOVERY ENGINE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How the Live Ingestion &amp; Analysis Pipeline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</a:defRPr>
            </a:pPr>
            <a:r>
              <a:t>The n8n-inspired data cleaning and synthesis workflow: from triggered scrapes to relational insights.</a:t>
            </a:r>
          </a:p>
          <a:p>
            <a:pPr>
              <a:defRPr sz="1200">
                <a:solidFill>
                  <a:srgbClr val="FF9F43"/>
                </a:solidFill>
                <a:latin typeface="Courier New"/>
              </a:defRPr>
            </a:pPr>
            <a:r>
              <a:t>1. TRIGGER (Manual/Webhook) -&gt; 2. SCRAPE (300 Play Store + 150 App Store + 200 Reddit + 150 YT + 100 Twitter + 100 Quora) -&gt; 3. MERGE &amp; DEDUPE (Unified SQLite table, clean duplicates) -&gt; 4. CLEAN &amp; TRANSLATE (Translate Hinglish slang to English) -&gt; 5. AI ANALYSIS (Groq Llama 3.1 analyzes sentiment &amp; segment) -&gt; 6. DASHBOARD (Renders Streamlit charts)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FC8019"/>
                </a:solidFill>
              </a:defRPr>
            </a:pPr>
            <a:r>
              <a:t>Curating the Ingestion Search Terms: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Discovery &amp; Exploration: search terms: 'discover', 'explore', 'new brand', 'not found', 'catalog gap'.</a:t>
            </a:r>
            <a:br/>
            <a:r>
              <a:t>• Recommendation Quality: search terms: 'fees', 'surcharge', 'charges', 'promo banner', 'minimum cart'.</a:t>
            </a:r>
            <a:br/>
            <a:r>
              <a:t>• Repetition &amp; Fatigue: search terms: 'same product', 'reorder', 'history', 'repeat', 'boring'.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4320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FC8019"/>
                </a:solidFill>
              </a:defRPr>
            </a:pPr>
            <a:r>
              <a:t>Every Post Classified Into 6 Questions: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1. Why do users struggle to explore new categories?</a:t>
            </a:r>
            <a:br/>
            <a:r>
              <a:t>2. What are the most common frustrations with home banners?</a:t>
            </a:r>
            <a:br/>
            <a:r>
              <a:t>3. What buying behaviors are users trying to achieve?</a:t>
            </a:r>
            <a:br/>
            <a:r>
              <a:t>4. What causes users to repeatedly listen to reorder list history?</a:t>
            </a:r>
            <a:br/>
            <a:r>
              <a:t>5. Which user segments experience different discovery challenges?</a:t>
            </a:r>
            <a:br/>
            <a:r>
              <a:t>6. What unmet needs emerge consistently across discussions?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SEGMENT &amp;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Discovery Seekers &amp; General Users on Quick Commerce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4572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</a:tblGrid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Working Professionals / Busy Parents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Age Profile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18-40 years (Gen-Z &amp; young millennials)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Locations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Tier 1 &amp; Tier 2 Indian cities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Estimated Size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~35M active monthly users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Device Usage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Mobile-first (iOS &amp; Android apps)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Language Profile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Hinglish, English, regional scripts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Payment Default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97% UPI / Instant wallets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Listening/Cart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75% repeat lists, 94% validation score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12080" y="1371600"/>
          <a:ext cx="652241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463040"/>
                <a:gridCol w="1371600"/>
                <a:gridCol w="1280160"/>
                <a:gridCol w="1310335"/>
              </a:tblGrid>
              <a:tr h="114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Persona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Behavior Pattern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Core Frustration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Job to be Done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Unmet Need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Rohan, 29</a:t>
                      </a:r>
                    </a:p>
                    <a:p>
                      <a:r>
                        <a:t>Software Eng</a:t>
                      </a:r>
                    </a:p>
                    <a:p>
                      <a:r>
                        <a:t>Bangalore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Orders milk daily via reorders. Bypasses catalog.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Delivery fee surcharges on small single add-on items.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Test new high-margin categories with zero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Post-checkout no-fee append window.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Meera, 42</a:t>
                      </a:r>
                    </a:p>
                    <a:p>
                      <a:r>
                        <a:t>Homemaker</a:t>
                      </a:r>
                    </a:p>
                    <a:p>
                      <a:r>
                        <a:t>Mumbai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Buys vegetables and grocery items occasionally.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Bad fresh produce batches; wallet-only refunds.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 produce with complete freshness trust and cash refund.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Visual expiration &amp; freshness metrics.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Priya, 35</a:t>
                      </a:r>
                    </a:p>
                    <a:p>
                      <a:r>
                        <a:t>Pet/Baby Parent</a:t>
                      </a:r>
                    </a:p>
                    <a:p>
                      <a:r>
                        <a:t>Pune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Buys premium baby wipes and dog food bags.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 lacks diaper size charts and product reviews.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Validate specifications before buying.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F9F43"/>
                          </a:solidFill>
                          <a:latin typeface="Arial"/>
                        </a:defRPr>
                      </a:pPr>
                      <a:r>
                        <a:t>Detailed specifications charts inside app.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ASSUMED 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4 Hypotheses We Assumed Based on AI-Generated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H1: Delivery Fee Tax → Habitual Reordering &amp; Churn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Instamart charges full delivery fees on small orders. This blocks users from testing low-risk auxiliary categories (like a face wash) as single item add-ons.</a:t>
            </a:r>
            <a:br/>
            <a:r>
              <a:t>Tag: Delivery Fee Friction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H2: Freshness Quality → Lack of Catalog Trust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Absence of real-time freshness markers and failure to offer cash refunds on squished produce drives homemakers back to offline vegetable markets.</a:t>
            </a:r>
            <a:br/>
            <a:r>
              <a:t>Tag: Quality Trust Deficit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H3: Visual Overwhelm → Homepage Discovery Avoidance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Home screen layout contains too many flashing banners. Senior or busy cohorts default to clicking 'Buy it Again' history, bypassing navigation tabs entirely.</a:t>
            </a:r>
            <a:br/>
            <a:r>
              <a:t>Tag: UI Clutter &amp; Navigation Anxiety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500">
                <a:solidFill>
                  <a:srgbClr val="FC8019"/>
                </a:solidFill>
              </a:defRPr>
            </a:pPr>
            <a:r>
              <a:t>H4: Multi-App Price Comparisons → Basket Splitting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Mixed-language user profile settings confuse item recommendations. Users split carts across Blinkit and Zepto based on immediate coupon availabilities.</a:t>
            </a:r>
            <a:br/>
            <a:r>
              <a:t>Tag: Platform Fragmentation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2 · RESEARCH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Target Segment &amp; Validated Pain Points through Primary Research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40"/>
                <a:gridCol w="1005840"/>
                <a:gridCol w="4114800"/>
                <a:gridCol w="1767535"/>
              </a:tblGrid>
              <a:tr h="762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Question Tested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Hypothesis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Validation %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Why do users struggle to discover?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Recommendations stay anchored to past history reorders.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81%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Legacy users find it hard to navigate catalog sections.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Banners lack specificity and genre filters fail.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Promotional home screen ads do not trigger exploration.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are common banner frustrations?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Shuffle and reorders are not truly random.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Already purchased items keep repeating in search results.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behaviors are users trying to achieve?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Users actively seek cross-category discovery.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Almost impossible to explore gourmet items without fee friction.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What unmet needs emerge consistently?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 post-checkout append window that waives fees.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Would help users add low-consideration items instantly.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C55E"/>
                          </a:solidFill>
                          <a:latin typeface="Arial"/>
                        </a:defRPr>
                      </a:pPr>
                      <a:r>
                        <a:t>Strongly Validated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From Root Cause to Business Case: Why This Is Worth Solving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THE ROOT CAUSE</a:t>
            </a:r>
          </a:p>
          <a:p>
            <a:pPr>
              <a:spcAft>
                <a:spcPts val="1500"/>
              </a:spcAft>
              <a:defRPr sz="1400">
                <a:solidFill>
                  <a:srgbClr val="F8FAFC"/>
                </a:solidFill>
              </a:defRPr>
            </a:pPr>
            <a:r>
              <a:t>• Collaborative filtering reorders history listings, treating familiar repeat items as the safest checkout option.</a:t>
            </a:r>
            <a:br/>
            <a:r>
              <a:t>• Delivery and packing fees on small orders act as a high-friction tax on new category exploration.</a:t>
            </a:r>
            <a:br/>
            <a:r>
              <a:t>• Niche categories (cosmetics, gourmet, baby items) lack detailed specifications inside product pages, driving users to Amazon.</a:t>
            </a:r>
            <a:br/>
            <a:r>
              <a:t>• There is no mechanism for users to append a forgotten item post-checkout without placing a new full-fee order.</a:t>
            </a:r>
          </a:p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TARGET COHORT: CONVENIENCE PROFESSIONALS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Busy working professionals who order groceries daily but stay locked out of home/beauty/pet supplies due to transaction friction. Estimated size: ~15% of active user base, representing the highest margin cohort.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300">
                <a:solidFill>
                  <a:srgbClr val="FC8019"/>
                </a:solidFill>
              </a:defRPr>
            </a:pPr>
            <a:r>
              <a:t>12-MONTH BUSINESS VALUE (PILOT CASE)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Step 1: Cohort Segment Sized</a:t>
            </a:r>
            <a:br/>
            <a:r>
              <a:t>~15% of Active Base -&gt; ~5.2M Monthly Active Customers classified as daily utility buyers (AOV ~₹180).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Step 2: Retention Lever</a:t>
            </a:r>
            <a:br/>
            <a:r>
              <a:t>-0.8pp monthly churn -&gt; Reduces app-switching to Blinkit/Zepto on forgotten items. Saves ₹45M in marketing re-acquisition.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Step 3: Conversion Lever</a:t>
            </a:r>
            <a:br/>
            <a:r>
              <a:t>+0.5% conversion of daily grocery buyers into personal/baby care categories, lifting overall monthly margin share by 14%.</a:t>
            </a:r>
          </a:p>
          <a:p>
            <a:pPr>
              <a:defRPr b="1" sz="1300">
                <a:solidFill>
                  <a:srgbClr val="FF9F43"/>
                </a:solidFill>
              </a:defRPr>
            </a:pPr>
            <a:r>
              <a:t>Step 4: 12-Month Value Projection</a:t>
            </a:r>
            <a:br/>
            <a:r>
              <a:t>~₹180 Million ARR lift modeled based on pilot region conversion. Zero logistics overhead as riders are already assigned.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SOLUTION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We Scored Three Paths on Reach, Impact, Confidence &amp; Effort: One Winner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FC8019"/>
                </a:solidFill>
              </a:defRPr>
            </a:pPr>
            <a:r>
              <a:t>RECOMMENDED: Post-Checkout Window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An interactive timer on post-checkout page.</a:t>
            </a:r>
            <a:br/>
            <a:r>
              <a:t>• Waives delivery fee for additions within 3 mins.</a:t>
            </a:r>
            <a:br/>
            <a:r>
              <a:t>• Reuses same assigned rider; zero logistics cost.</a:t>
            </a:r>
            <a:br/>
            <a:r>
              <a:t>• Easy to code via frontend timers and order-append 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37160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A855F7"/>
                </a:solidFill>
              </a:defRPr>
            </a:pPr>
            <a:r>
              <a:t>AMBITIOUS: AI-Native Chat Agent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Conversational chat bar to plan meals.</a:t>
            </a:r>
            <a:br/>
            <a:r>
              <a:t>• Automatically adds ingredients to cart.</a:t>
            </a:r>
            <a:br/>
            <a:r>
              <a:t>• Requires complex LLM parsing infrastructure.</a:t>
            </a:r>
            <a:br/>
            <a:r>
              <a:t>• Takes 6+ engineering months to build and validate.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37160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3B82F6"/>
                </a:solidFill>
              </a:defRPr>
            </a:pPr>
            <a:r>
              <a:t>QUICK WIN: Smarter Catalog Filters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Obscurity/popularity sliders in search.</a:t>
            </a:r>
            <a:br/>
            <a:r>
              <a:t>• Help filter organic or premium brands.</a:t>
            </a:r>
            <a:br/>
            <a:r>
              <a:t>• Low conversion impact; users ignore filters.</a:t>
            </a:r>
            <a:br/>
            <a:r>
              <a:t>• Reuses existing metadata; low dev effort.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657600"/>
          <a:ext cx="1127729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  <a:gridCol w="1645920"/>
                <a:gridCol w="2133295"/>
              </a:tblGrid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Solution Path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Reach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RICE Score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Smarter Catalog Filters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Low (1.5M/qtr)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Low (0.5x)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 person-month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Crate Digger AI Chat Agent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Medium (5M/qtr)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Massive (3.0x)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6 person-months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8B949E"/>
                          </a:solidFill>
                          <a:latin typeface="Arial"/>
                        </a:defRPr>
                      </a:pPr>
                      <a:r>
                        <a:t>12.5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Post-Checkout Add-on Window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High (20M/qtr)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High (2.0x)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 person-months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106.6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User Flow Diagram &amp; Backend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USER FLOW DIAGRAM (PILOT SESSION)</a:t>
            </a:r>
          </a:p>
          <a:p>
            <a:pPr>
              <a:spcAft>
                <a:spcPts val="1000"/>
              </a:spcAft>
              <a:defRPr sz="1100">
                <a:solidFill>
                  <a:srgbClr val="FF9F43"/>
                </a:solidFill>
                <a:latin typeface="Courier New"/>
              </a:defRPr>
            </a:pPr>
            <a:r>
              <a:t>[Order Placed] -&gt; [App checks: is it grocery/milk?] -&gt; YES</a:t>
            </a:r>
            <a:br/>
            <a:br/>
            <a:r>
              <a:t>[Active 3-Min Timer Banner Starts] -&gt; [User views recommended items (Face wash, dog food)] -&gt; [User clicks Add-to-Order]</a:t>
            </a:r>
            <a:br/>
            <a:br/>
            <a:r>
              <a:t>[System runs validation: is timer active?] -&gt; YES</a:t>
            </a:r>
            <a:br/>
            <a:br/>
            <a:r>
              <a:t>[Waives delivery fee to ₹0] -&gt; [Appends item in active SQLite DB session] -&gt; [Updates total bill] -&gt; [Pushes updated manifest to Dark Store Packer]</a:t>
            </a:r>
            <a:br/>
            <a:br/>
            <a:r>
              <a:t>[Next screen: updated order details, 0 repeat delivery charges]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Cold Start Guardrail: Window is disabled if order contains heavy items exceeding bike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SYSTEM ARCHITECTURE (PHASE 0 - PHASE 4)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Phase 4: UI/Orchestration Layer</a:t>
            </a:r>
            <a:br/>
            <a:r>
              <a:t>Mode toggle A/B/C checkout sandbox. Timer displays, callback handlers.</a:t>
            </a:r>
            <a:br/>
            <a:br/>
            <a:r>
              <a:t>• Phase 3: Reasoning &amp; Explanation Layer</a:t>
            </a:r>
            <a:br/>
            <a:r>
              <a:t>FastAPI route `/api/opportunities` prioritizes recommendations. LLM writes one-line 'Why you need this now' reason.</a:t>
            </a:r>
            <a:br/>
            <a:br/>
            <a:r>
              <a:t>• Phase 2: Category Matchers</a:t>
            </a:r>
            <a:br/>
            <a:r>
              <a:t>Cross-category engine pairs milk orders with beauty (face wash), baby wipes, and organic produce (avocados).</a:t>
            </a:r>
            <a:br/>
            <a:br/>
            <a:r>
              <a:t>• Phase 1: Storage Layer</a:t>
            </a:r>
            <a:br/>
            <a:r>
              <a:t>SQLite3 (`reviews.db`) stores user histories, active checkouts, and ICE opportunity roadmaps.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3 · TECHNICAL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Why Post-Checkout Sandbox, and Not Traditional Recommenders?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THE GAP</a:t>
            </a:r>
            <a:br/>
            <a:r>
              <a:t>Why Traditional Banners Fail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Home screen ads are treated as spam (banner blindness).</a:t>
            </a:r>
            <a:br/>
            <a:r>
              <a:t>• Collaborative filtering recommends items the user has already bought, locking them in loops.</a:t>
            </a:r>
            <a:br/>
            <a:r>
              <a:t>• Pre-checkout widgets trigger fee warnings, creating price check cart abandonments.</a:t>
            </a:r>
            <a:br/>
            <a:r>
              <a:t>• No mechanism exists to add a forgotten item without paying another delivery fee.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22C55E"/>
                </a:solidFill>
              </a:defRPr>
            </a:pPr>
            <a:r>
              <a:t>THE UNLOCK</a:t>
            </a:r>
            <a:br/>
            <a:r>
              <a:t>What the MVP Unlocks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Leverages active transaction momentum immediately post-checkout.</a:t>
            </a:r>
            <a:br/>
            <a:r>
              <a:t>• Waives delivery fee for 3 mins as rider cost is already paid.</a:t>
            </a:r>
            <a:br/>
            <a:r>
              <a:t>• Recommends high-margin exploratory categories (beauty, pets) based on daily context.</a:t>
            </a:r>
            <a:br/>
            <a:r>
              <a:t>• Provides a clear one-line reasoning explaining the zero fee waiver.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3B82F6"/>
                </a:solidFill>
              </a:defRPr>
            </a:pPr>
            <a:r>
              <a:t>THE OUTCOME</a:t>
            </a:r>
            <a:br/>
            <a:r>
              <a:t>How UX Transforms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Cart additions shift from high-consideration friction to low-friction taps.</a:t>
            </a:r>
            <a:br/>
            <a:r>
              <a:t>• Users explore auxiliary categories without opening competitor apps.</a:t>
            </a:r>
            <a:br/>
            <a:r>
              <a:t>• Instamart transitions from a commodity milk-run channel to a multi-category shopping center.</a:t>
            </a:r>
            <a:br/>
            <a:r>
              <a:t>• Creates a zero-acquisition cost marketing channel for new brand trials.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35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i="1" sz="1300">
                <a:solidFill>
                  <a:srgbClr val="FF9F43"/>
                </a:solidFill>
              </a:defRPr>
            </a:pPr>
            <a:r>
              <a:t>The reasoning is simple: a traditional pre-checkout banner increases cart abandonment; but a post-checkout timer leverages warm payment intent to trigger zero-fee discovery when the user's focus is at 100%.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C8019"/>
          </a:solidFill>
          <a:ln>
            <a:solidFill>
              <a:srgbClr val="FC80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8B949E"/>
                </a:solidFill>
                <a:latin typeface="Arial"/>
              </a:defRPr>
            </a:pPr>
            <a:r>
              <a:t>PART 4 · GTM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C8019"/>
                </a:solidFill>
                <a:latin typeface="Arial"/>
              </a:defRPr>
            </a:pPr>
            <a:r>
              <a:t>Go To Market Strategy: Phased Pilot &amp; Growth Guardrail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FC8019"/>
                </a:solidFill>
              </a:defRPr>
            </a:pPr>
            <a:r>
              <a:t>PHASED GO-TO-MARKET ROLLOUT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Phase 1 (Weeks 1-4): Controlled Pilot</a:t>
            </a:r>
            <a:br/>
            <a:r>
              <a:t>Launch in Bangalore east dark stores. Limit to active grocery buyers with 5+ reorder history. Target: &gt;25% completion rate, 0% rider delays.</a:t>
            </a:r>
            <a:br/>
            <a:br/>
            <a:r>
              <a:t>• Phase 2 (Weeks 5-10): Targeted Expansion</a:t>
            </a:r>
            <a:br/>
            <a:r>
              <a:t>Expand to top-10 dark stores. A/B test inline countdown timer banner vs bottom-sheet slide. Target: &gt;20% toggle rate, &gt;35% 30-day retention.</a:t>
            </a:r>
            <a:br/>
            <a:br/>
            <a:r>
              <a:t>• Phase 3 (Weeks 11-16): Full Rollout</a:t>
            </a:r>
            <a:br/>
            <a:r>
              <a:t>Enable for all active users across Tier 1 cities. Link to Swiggy One membership to drive subscription upsell. Target: 18% AOV increase.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371600"/>
          <a:ext cx="55165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2773375"/>
              </a:tblGrid>
              <a:tr h="10287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Risk Event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Mitigation Strategy</a:t>
                      </a:r>
                    </a:p>
                  </a:txBody>
                  <a:tcPr>
                    <a:solidFill>
                      <a:srgbClr val="1F293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Rider delay due to late cart additions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Medium/High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Disable append option if packer has already scanned order barcode.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User abuses free delivery for bulk items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High/Medium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Limit add-ons to light items (&lt;2kg) matching bike weight capacity.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Gourmet items are out of stock at dark store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C8019"/>
                          </a:solidFill>
                          <a:latin typeface="Arial"/>
                        </a:defRPr>
                      </a:pPr>
                      <a:r>
                        <a:t>Medium/Low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Sync add-on shelf with dark store live inventory counts.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B949E"/>
                </a:solidFill>
                <a:latin typeface="Arial"/>
              </a:defRPr>
            </a:pPr>
            <a:r>
              <a:t>Swiggy Instamart Growth Team Portfolio | Category Expansion Initiative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218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49E"/>
                </a:solidFill>
                <a:latin typeface="Arial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