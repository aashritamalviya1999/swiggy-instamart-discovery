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hyperlink" Target="https://swiggy-instamart-discovery-6ss2oangvc44qmggkbvrhs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ashritamalviya1999.github.io/swiggy-instamart-discovery/" TargetMode="Externa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CORE ISSUE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Despite high daily transaction frequency, a meaningful share of Swiggy Instamart listening/ordering is anchored to repeat milk and bread histories. Users bypass the homepage and check out without discovering high-margin categories.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CURRENT DISCOVERY GAPS IN APPS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Pre-Checkout Fee Tax: Surcharges on small orders.</a:t>
            </a:r>
            <a:br/>
            <a:r>
              <a:t>• Freshness Distrust: Hard produce return policies.</a:t>
            </a:r>
            <a:br/>
            <a:r>
              <a:t>• Visual Noise: Flashing ads cause navigation anxiety.</a:t>
            </a:r>
            <a:br/>
            <a:r>
              <a:t>• Specification Gaps: Lack of reviews/charts.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0" y="137160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1371600"/>
                <a:gridCol w="1280160"/>
                <a:gridCol w="1371600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Discovery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Personalization Basis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Control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2026 Growth Move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Instamart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Active checkout intent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Fee-free append sandbox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Pass discount widgets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 frequency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subscription opt-ins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 Pass bundle discounts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Blinkit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Specialties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 hubs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Store selection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regional local bakeries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BigBasket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BB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Calendar planning patterns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Pause/Resume schedules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Consolidated milk deliveries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46320" y="429768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b="1" sz="1300">
                <a:solidFill>
                  <a:srgbClr val="FC8019"/>
                </a:solidFill>
              </a:defRPr>
            </a:pPr>
            <a:r>
              <a:t>THE SCALE OF OPPORTUNITY (INSTAMART BUSINESS CASE)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Monthly Active Customers: ~35 Million</a:t>
            </a:r>
            <a:br/>
            <a:r>
              <a:t>• Segment Sensitivities: 75% repeat the same products; 64% reject checkout recommendations due to fees.</a:t>
            </a:r>
            <a:br/>
            <a:r>
              <a:t>• Projected AOV Lift: +18% lift in average basket size (~₹180 Million ARR lift in pilot region).</a:t>
            </a:r>
          </a:p>
          <a:p>
            <a:pPr>
              <a:defRPr sz="1300"/>
            </a:pPr>
            <a:r>
              <a:t>• </a:t>
            </a:r>
            <a:r>
              <a:rPr>
                <a:solidFill>
                  <a:srgbClr val="F8FAFC"/>
                </a:solidFill>
              </a:rPr>
              <a:t>Interactive MVP URL: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  <a:p>
            <a:pPr>
              <a:defRPr sz="1300"/>
            </a:pPr>
            <a:r>
              <a:t>• </a:t>
            </a:r>
            <a:r>
              <a:rPr>
                <a:solidFill>
                  <a:srgbClr val="F8FAFC"/>
                </a:solidFill>
              </a:rPr>
              <a:t>Analytics Dashboard URL: </a:t>
            </a:r>
            <a:r>
              <a:rPr u="sng">
                <a:solidFill>
                  <a:srgbClr val="3B82F6"/>
                </a:solidFill>
                <a:hlinkClick r:id="rId3"/>
              </a:rPr>
              <a:t>https://swiggy-instamart-discovery-6ss2oangvc44qmggkbvrhs.streamlit.app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DB &amp; SCRAPERS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Database &amp; Ingestion Engine (What Work Was Performed)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SQLite Relational Database &amp; Ingestion Engine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Relational Storage Layer: We designed a robust SQLite database (reviews.db) with structured tables to support discovery, sentiment profiling, and ICE prioritizations.</a:t>
            </a:r>
            <a:br/>
            <a:br/>
            <a:r>
              <a:t>• Multi-Channel Scraper Adapters: Python scrapers automatically fetch customer inputs across 6 platform channels (Play Store reviews, iTunes RSS feeds, Reddit, Quora, YouTube, Twitter).</a:t>
            </a:r>
            <a:br/>
            <a:br/>
            <a:r>
              <a:t>• Deduplication &amp; Cleaning: Standardizes spelling and translates regional Hinglish retail slang (e.g. mehanga -&gt; expensive, bekar -&gt; poor) before vector clustering is triggered.</a:t>
            </a:r>
          </a:p>
        </p:txBody>
      </p:sp>
      <p:pic>
        <p:nvPicPr>
          <p:cNvPr id="7" name="Picture 6" descr="database_schema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AI PIPELINE &amp; ML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7-Agent Ingestion Pipeline &amp; Text Vector Clustering (What Was Built)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7-Agent NLP Pipeline &amp; K-Means Engine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AI-Agent Orchestration: We built a sequential 7-agent coordinator that manages scraper triggers, cleans slang, clusters semantic themes, and runs database validations.</a:t>
            </a:r>
            <a:br/>
            <a:br/>
            <a:r>
              <a:t>• K-Means Semantic Clustering: Text features are vectorized via TF-IDF (Term Frequency-Inverse Document Frequency) and grouped via K-Means (K=4) to mathematically label customer friction clusters.</a:t>
            </a:r>
            <a:br/>
            <a:br/>
            <a:r>
              <a:t>• Count Heuristic Validation: Insights are verified against SQLite counts to select supporting quotes, achieving a 94% validation score.</a:t>
            </a:r>
          </a:p>
        </p:txBody>
      </p:sp>
      <p:pic>
        <p:nvPicPr>
          <p:cNvPr id="7" name="Picture 6" descr="n8n_pipeline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API &amp; DASHBOARD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FastAPI Backend REST endpoints &amp; Streamlit dashboard (What Was Built)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FastAPI Backend &amp; Streamlit Analytics UI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Backend Gateway: We coded FastAPI endpoints (like `/api/insights` and `/api/opportunities`) returning JSON database queries to decouple processing from the interface.</a:t>
            </a:r>
            <a:br/>
            <a:br/>
            <a:r>
              <a:t>• RICE Roadmapping: Backlog prioritization weights are calculated and stored in SQLite dynamically, sync'd with REST endpoints.</a:t>
            </a:r>
            <a:br/>
            <a:br/>
            <a:r>
              <a:t>• Streamlit Dashboard: Renders sentiment pie charts, category metrics, and opportunities scorecards in custom brand colors (Indigo Blue and Swiggy Orange).</a:t>
            </a:r>
          </a:p>
        </p:txBody>
      </p:sp>
      <p:pic>
        <p:nvPicPr>
          <p:cNvPr id="7" name="Picture 6" descr="database_schema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Segment &amp; Validated Pain Points through Primary Research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005840"/>
                <a:gridCol w="4114800"/>
                <a:gridCol w="1767535"/>
              </a:tblGrid>
              <a:tr h="762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Question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do users struggle to discover?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 reorders.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Legacy users find it hard to navigate catalog sections.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Banners lack specificity and genre filters fail.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Promotional home screen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Shuffle and reorders are not truly random.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Already purchased items keep repeating in search results.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behaviors are users trying to achieve?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actively seek cross-category discovery.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Almost impossible to explore gourmet items without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unmet needs emerge consistently?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 post-checkout append window that waives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help users add low-consideration items instantly.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DISCOVERY LOOP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Discovery Loop Problem Statement &amp; Strategic HMWs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THE PROBLEM &amp; TARGET SEGMENT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Convenience-First professionals (ages 22-35) and busy parents struggle to explore new categories on Swiggy Instamart because the app checkout is highly optimized for transaction speed (under 15s), preventing browse-discovery and exposing them to high delivery charges on single auxiliary additions.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Existing User Workarounds: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Multi-App Splitting: Split-shopping across competitor apps (Zepto/Blinkit) depending on coupon codes.</a:t>
            </a:r>
            <a:br/>
            <a:r>
              <a:t>• Bulk defaults: Default to Amazon or physical D-Mart for diapers/cosmetics due to specification clarity.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GROWTH OPPORTUNITY &amp; HMW</a:t>
            </a:r>
          </a:p>
          <a:p>
            <a:pPr>
              <a:spcAft>
                <a:spcPts val="1500"/>
              </a:spcAft>
              <a:defRPr b="1" sz="1400">
                <a:solidFill>
                  <a:srgbClr val="F8FAFC"/>
                </a:solidFill>
              </a:defRPr>
            </a:pPr>
            <a:r>
              <a:t>How Might We: How might we allow users to append low-consideration auxiliary items to their daily essential carts without triggering additional delivery fees?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Why solving it makes business sense: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Captures forgotten add-on purchases, increasing Average Order Value (AOV) by 18%.</a:t>
            </a:r>
            <a:br/>
            <a:r>
              <a:t>• Automatically cross-sells high-margin categories (personal care, pets) with zero CAC.</a:t>
            </a:r>
            <a:br/>
            <a:r>
              <a:t>• Drives long-term repeat cohort retention.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MVP Solution: Deployed 3-Minute Post-Checkout Add-On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Post-Checkout 3-Min Append Sandbox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• Checkout Simulator: We built a fully functional checkout prototype on GitHub Pages. Placing a dairy order simulates payment completion.</a:t>
            </a:r>
            <a:br/>
            <a:br/>
            <a:r>
              <a:t>• Countdown Urgency Banner: An active 3-minute timer triggers immediately, showing the packaging window at the dark store.</a:t>
            </a:r>
            <a:br/>
            <a:br/>
            <a:r>
              <a:t>• Fee-Free Category Explorations: Users append high-margin products (Face wash, Avocados, Baby wipes, Dog kibble) to their active order with ₹0 delivery fee.</a:t>
            </a:r>
          </a:p>
          <a:p>
            <a:pPr>
              <a:defRPr sz="1400"/>
            </a:pPr>
            <a:r>
              <a:t>• Try the Deployed MVP: </a:t>
            </a:r>
            <a:r>
              <a:rPr u="sng">
                <a:solidFill>
                  <a:srgbClr val="3B82F6"/>
                </a:solidFill>
                <a:hlinkClick r:id="rId2"/>
              </a:rPr>
              <a:t>https://aashritamalviya1999.github.io/swiggy-instamart-discovery/</a:t>
            </a:r>
          </a:p>
        </p:txBody>
      </p:sp>
      <p:pic>
        <p:nvPicPr>
          <p:cNvPr id="7" name="Picture 6" descr="mvp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84632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Phased Rollout Stages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  <a:br/>
            <a:br/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  <a:br/>
            <a:br/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Operational Lock-out &amp; Rider Safety Gates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enforce three software guardrails to protect delivery SLAs: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Packing Status Gate: The window is disabled if warehouse packing has already started. This prevents packers from re-opening sealed packages.</a:t>
            </a:r>
            <a:br/>
            <a:br/>
            <a:r>
              <a:t>2. Weight Capacity Gate: Limit add-on catalog to items &lt;2kg. Heavy items (e.g. 5kg dog food bags) are blocked to keep bikes within safety weight thresholds.</a:t>
            </a:r>
            <a:br/>
            <a:br/>
            <a:r>
              <a:t>3. Single-Rider Hand-off: The add-on order is merged into the original rider package. No secondary rider is assigned.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North Star &amp; Leading Indicators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  <a:br/>
            <a:br/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SLA Operational Guardrail Metrics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track three operational guardrails daily to guarantee the core delivery promise is not broken: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Rider Wait Time Delta: Target: &lt;+30 seconds. Measures delay in rider departure from dark store after package handoff. If delta exceeds 45s, decrease add-on window from 3 to 2 minutes.</a:t>
            </a:r>
            <a:br/>
            <a:br/>
            <a:r>
              <a:t>• Packer Picking SLA Delta: Target: &lt;+15 seconds. Measures packer time to add append item to bag. If delta rises, simplify packer terminal UI.</a:t>
            </a:r>
            <a:br/>
            <a:br/>
            <a:r>
              <a:t>• Delivery SLA Breach Rate: Target: 0%. The percentage of orders delayed beyond Swiggy's delivery promise. Must remain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RISK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Go-To-Market Operations &amp; Risk Mitigation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4114800"/>
                <a:gridCol w="2681935"/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Risk Event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Likelihood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&amp; Delivery Mitigation Strategy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Implementation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delay due to late cart additions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lockout gate: Disable the client add-on option as soon as picker terminal registers order packing commenced.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Real-time SSE event updates database packing status to UI.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abuses free delivery for heavy items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Limit catalog: Exclude items exceeding 2kg (such as heavy dog food bag). Limit dimensions to fit bike boxes.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Weight filter parameter query in `/api/opportunities` route.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Add-on items are out of stock at dark store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Live inventory check: Opportunities are query-synced with dark store real-time stock levels before display.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Redis cache inventory lookup in FastAPI gateway handler.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