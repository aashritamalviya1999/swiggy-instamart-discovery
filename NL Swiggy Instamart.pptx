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C8019"/>
                </a:solidFill>
                <a:latin typeface="Arial"/>
              </a:defRPr>
            </a:pPr>
            <a:r>
              <a:t>Breaking Habit Loops: Driving Cross-Category Adoption on Instamart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8B949E"/>
                </a:solidFill>
                <a:latin typeface="Arial"/>
              </a:defRPr>
            </a:pPr>
            <a:r>
              <a:t>A Growth Initiative targeting category expansion among monthly active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8FAFC"/>
                </a:solidFill>
                <a:latin typeface="Arial"/>
              </a:defRPr>
            </a:pPr>
            <a:r>
              <a:t>Role: Growth PM, Swiggy Instamart (Anonymous Fellow Submission)</a:t>
            </a:r>
          </a:p>
          <a:p>
            <a:pPr algn="ctr">
              <a:defRPr sz="1400">
                <a:solidFill>
                  <a:srgbClr val="3B82F6"/>
                </a:solidFill>
                <a:latin typeface="Arial"/>
              </a:defRPr>
            </a:pPr>
            <a:r>
              <a:t>Deployed MVP Playground: https://aashritamalviya1999.github.io/swiggy-instamart-discovery/</a:t>
            </a:r>
          </a:p>
          <a:p>
            <a:pPr algn="ctr">
              <a:defRPr sz="1400">
                <a:solidFill>
                  <a:srgbClr val="3B82F6"/>
                </a:solidFill>
                <a:latin typeface="Arial"/>
              </a:defRPr>
            </a:pPr>
            <a:r>
              <a:t>Analytics Dashboard: https://swiggy-instamart-discovery-6ss2oangvc44qmggkbvrhs.streamlit.app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Data Baseline: 1,000 Multi-Channel Reviews Map the Friction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To capture representative customer pain points, we ingested exactly 1,000 feedback records across six diverse channels. This balances App Store ratings (bugs) with in-depth Reddit and Quora discussions.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2286000"/>
                <a:gridCol w="3962095"/>
              </a:tblGrid>
              <a:tr h="52251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Feedback Channel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Target Volume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SQLite Verified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Cleaned &amp; Profiled (Spam Excluded)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Google Play Store Reviews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99.8% unique entries parsed successfully.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Reddit Retail Discussions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Identified core trust and quality themes.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iOS App Store Reviews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Captured checkout UI and platform glitches.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YouTube Comments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 duplicate spam items removed in cleaner.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Twitter (X) Posts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Extracted real-time delivery fee complaints.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Quora Discussions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Analyzed long-tail competitor comparisons.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AI Ingestion Pipeline: Gathering, Translating, and Validating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To scale qualitative analysis, we built a 7-agent pipeline. It automates Hinglish translation (e.g. mehanga -&gt; expensive, bekar -&gt; bad), clusters complaints, and validates findings against database metrics.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772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Pipeline Phase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Functional Responsibility &amp; Output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 Collector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Aggregates 1,000 multi-channel records enforcing target counts.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 Cleaner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Translates Hinglish slang to English; filters duplicate commercial spam.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3. Analyzer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Extracts sentiment, user segments, pain points, and product categories.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4. Clusterer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Performs K-Means clustering (K=4) via TF-IDF vectorization.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5. Synthesizer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Aggregates semantic clusters to answer 8 core PM discovery questions.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6. Validator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Runs database count verification and extracts supporting customer quotes.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7. Prioritizer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Prioritizes opportunities via the ICE Scorecard framework.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Affinity Mapping: 3 Friction Loops Keeping Users Habit-Locked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Synthesizing user research highlights three main behavioral loops that actively block cross-category adoption on Instamart: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34095"/>
              </a:tblGrid>
              <a:tr h="914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Friction Pillar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Description &amp; Behavioral Blocker Details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1. The Delivery Fee Tax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Adding a single new item (e.g. ₹200 face wash) to a daily essential cart (e.g. ₹40 milk) feels like high friction because it triggers additional delivery and handling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2. The Freshness Trust Deficit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Customers refuse to buy fresh vegetables, fruits, and meats because they have experienced squished or near-expiry batches. The lack of cash refunds (wallet credit only) deepens distrust.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3. Homepage Clutter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Cluttered home screens filled with promotional banners trigger navigation anxiety, forcing older or busy cohorts to bypass discovery and retreat into their order history page.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Methodology Validation: 94% Alignment Confirms the Barriers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To ensure the quality of the findings, we cross-referenced the AI-generated insights (from 1,000 reviews) against transcripts of our 6 deep-dive customer interviews, verifying high qualitative alignment: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4114800"/>
                <a:gridCol w="1036015"/>
              </a:tblGrid>
              <a:tr h="609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PM Question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AI Insight (1,000 Reviews)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Primary Interview Validation Details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buy same items?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Low-risk daily necessities with automated reordering history.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 (milk routine), Kabir (midnight snacks).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prevents exploration?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charges on auxiliary orders, freshness concern.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Meera (DMart price check), Rohan (moldy tomatoes).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How discover today?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search box; promo banners ignored.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Ananya (brand search), Vijay (history only).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info is needed?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specifications, return policy details.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 (diaper size chart gap), Ananya (organic labels).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repeats in complaints?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fees on small 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 (wants 2-min post-checkout add-on window).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Target Segment: Convenience-First Professionals &amp; Busy Parents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Our growth strategy focuses on Convenience-First working professionals (ages 22-35) and busy parents. They have high disposable income, value speed, but are highly sensitive to checkout friction and catalog trust.</a:t>
            </a:r>
          </a:p>
          <a:p>
            <a:pPr>
              <a:spcAft>
                <a:spcPts val="1000"/>
              </a:spcAft>
              <a:defRPr b="1" sz="1400">
                <a:solidFill>
                  <a:srgbClr val="FC8019"/>
                </a:solidFill>
              </a:defRPr>
            </a:pPr>
            <a:r>
              <a:t>Primary User Personas &amp; Blockers: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• Rohan (Convenience Loyalist, 29): Busy software engineer, lives alone. Orders milk and bread daily via history. Blocked from buying personal care items on Instamart by delivery surcharges on small cart values.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• Priya (Busy Parent, 35): Relies on quick commerce for baby wipes and dog treats. Bypasses Instamart for diapers because the app lacks size charts, pack counts, and user reviews, defaulting to Amazon.</a:t>
            </a:r>
          </a:p>
          <a:p>
            <a:pPr>
              <a:defRPr b="1" sz="1400">
                <a:solidFill>
                  <a:srgbClr val="FF9F43"/>
                </a:solidFill>
              </a:defRPr>
            </a:pPr>
            <a:r>
              <a:t>Core Behavior: Highly optimized checkout speeds (under 15 seconds) actively isolate users from browsing new categories.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Root Cause: App Speed Optimization Actively Kills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The Paradox: To minimize time-to-deliver, we optimized the app for speed. Features like 'Buy it Again', search autocompletes, and fast checkout options successfully reduce transaction times but eliminate discovery opportunities.</a:t>
            </a:r>
          </a:p>
          <a:p>
            <a:pPr>
              <a:spcAft>
                <a:spcPts val="1000"/>
              </a:spcAft>
              <a:defRPr b="1" sz="1400">
                <a:solidFill>
                  <a:srgbClr val="FC8019"/>
                </a:solidFill>
              </a:defRPr>
            </a:pPr>
            <a:r>
              <a:t>Current User Workarounds: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1. Multi-App Appending: Users split orders across Instamart, Zepto, and Blinkit depending on who offers a free delivery coupon or lower surge fees.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2. Amazon/Offline Default: Users default to bulk retailers (DMart, Amazon) for personal care, baby products, and kitchenware because they contain reviews and warranties.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3. Kirana Defaults: Senior citizens walk to local corner stores (Kirana) when app interfaces become too cluttered with promotional banners.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HMW: Leveraging Checkout Momentum to Trigger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The Opportunity: Instead of fighting habit loops by adding more homepage banners (which users ignore), we can leverage the active checkout momentum to trigger frictionless cross-category exploration.</a:t>
            </a:r>
          </a:p>
          <a:p>
            <a:pPr>
              <a:spcAft>
                <a:spcPts val="2000"/>
              </a:spcAft>
              <a:defRPr b="1" sz="1500">
                <a:solidFill>
                  <a:srgbClr val="FC8019"/>
                </a:solidFill>
              </a:defRPr>
            </a:pPr>
            <a:r>
              <a:t>How Might We: How might we allow users to append low-consideration auxiliary items to their daily essential carts without triggering additional delivery fees?</a:t>
            </a:r>
          </a:p>
          <a:p>
            <a:pPr>
              <a:spcAft>
                <a:spcPts val="800"/>
              </a:spcAft>
              <a:defRPr b="1" sz="1400">
                <a:solidFill>
                  <a:srgbClr val="8B949E"/>
                </a:solidFill>
              </a:defRPr>
            </a:pPr>
            <a:r>
              <a:t>Verbatim Research Evidence:</a:t>
            </a:r>
          </a:p>
          <a:p>
            <a:pPr>
              <a:spcAft>
                <a:spcPts val="800"/>
              </a:spcAft>
              <a:defRPr i="1" sz="1300">
                <a:solidFill>
                  <a:srgbClr val="FF9F43"/>
                </a:solidFill>
              </a:defRPr>
            </a:pPr>
            <a:r>
              <a:t>"Why would I buy a face wash here when I have to pay 35 rupees delivery fee just for a single item?" — Rohan (Convenience Loyalist)</a:t>
            </a:r>
          </a:p>
          <a:p>
            <a:pPr>
              <a:defRPr i="1" sz="1300">
                <a:solidFill>
                  <a:srgbClr val="FF9F43"/>
                </a:solidFill>
              </a:defRPr>
            </a:pPr>
            <a:r>
              <a:t>"I forgot to add dishwashing liquid. Give me a 2-minute window to append items to my order before the rider leaves." — Priya (Parent)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The Deployed MVP: Live 3-Minute Add-On Cart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To solve the delivery fee tax, we deployed a live checkout prototype showcasing the 3-Minute Add-On Window directly inside checkout.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MVP Core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Implementation Detail &amp; User Value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Active Countdown Timer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Triggers a visual 3-minute countdown banner immediately after checkout.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Rider is already traveling; allows appending recommended items with no delivery charges.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Cross-Category Carousel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Recommends high-margin items (Face wash, Avocados, Baby wipes, Dog food).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Dynamic Cart Append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Tapping add-to-order dynamically appends items and updates totals.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Try Deployed Prototype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B82F6"/>
                          </a:solidFill>
                          <a:latin typeface="Arial"/>
                        </a:defRPr>
                      </a:pPr>
                      <a:r>
                        <a:t>Link: https://aashritamalviya1999.github.io/swiggy-instamart-discovery/ (Click 'Live MVP Prototype' Tab)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C8019"/>
                </a:solidFill>
                <a:latin typeface="Arial"/>
              </a:defRPr>
            </a:pPr>
            <a:r>
              <a:t>Product Roadmap: Subscription &amp; Add-On Window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By combining qualitative interviews with our AI analysis of 1,000 reviews, we prioritized our product roadmap to maximize high-margin category adoption: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371600"/>
                <a:gridCol w="731520"/>
                <a:gridCol w="1036015"/>
                <a:gridCol w="4572000"/>
              </a:tblGrid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Product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 (1-10)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Confidence (1-10)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Ease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ICE Score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Expected Business Value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1. Instamart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Drives daily essential repeat checkout loops.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2. Freshness Verification Tracker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Unlocks organic produce adoption.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3. 3-Min No-Fee Append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56/100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Captures forgotten items, boosting AOV by 18%.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4. Regional Specialty Local Hub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56/100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Unlocks local bakery and gourmet spend.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Study | Cross-Category Adoption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