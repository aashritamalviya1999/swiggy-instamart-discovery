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hyperlink" Target="https://swiggy-instamart-discovery-6ss2oangvc44qmggkbvrhs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1 · PROJECT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Swiggy Instamart AI Product Discovery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201168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WHY NOW? (Strategic Context)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Instamart already owns high-frequency grocery behavior. Increasing category breadth improves Customer Lifetime Value (LTV) without increasing user acquisition costs (CAC).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57600"/>
            <a:ext cx="5303520" cy="246888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76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SCALE OF OPPORTUNITY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Target Segment: ~35M Monthly Active Customers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Repeat Loop: 75% order identical items every month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Fee Impact: 64% reject checkout recommendations due to fees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Projected AOV Lift: +18% average basket growth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394960" cy="466344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002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PORTFOLIO CASE STUDY LINKS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This portfolio project details a category penetration growth strategy and showcases a deployed quick-commerce checkout sandbox.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Please click the active links below to test the prototypes: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Deployed Sandbox: Click link below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Analytics Dashboard: Click link below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20624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</a:defRPr>
            </a:pPr>
            <a:r>
              <a:t>MVP Sandbox URL:</a:t>
            </a:r>
            <a:br/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Analytics Dashboard URL:</a:t>
            </a:r>
            <a:br/>
            <a:r>
              <a:rPr u="sng">
                <a:solidFill>
                  <a:srgbClr val="3B82F6"/>
                </a:solidFill>
                <a:hlinkClick r:id="rId3"/>
              </a:rPr>
              <a:t>https://swiggy-instamart-discovery-6ss2oangvc44qmggkbvrhs.streamlit.app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Portfolio | AI Product Discovery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2 · PROBLEM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Why Home Banners Fail vs. AI Ingestion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WHY AN AI-NATIVE SOLUTION?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Traditional Dashboards vs. AI:</a:t>
            </a:r>
            <a:br/>
            <a:r>
              <a:t>- Traditional: ❌ Tells us WHAT people bought (repeat dairy/bread).</a:t>
            </a:r>
            <a:br/>
            <a:r>
              <a:t>- AI Discovery: ✅ Explains WHY users don't buy new categories.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Real Evidence (Customer Review):</a:t>
            </a:r>
            <a:br/>
            <a:r>
              <a:t>⭐⭐⭐⭐ "I just order milk every week. Never noticed the personal care section."</a:t>
            </a:r>
            <a:br/>
            <a:r>
              <a:t>-&gt; Theme: Habit Loop</a:t>
            </a:r>
            <a:br/>
            <a:r>
              <a:t>-&gt; Insight: Discovery isn't happening.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Homepage Avoidance: Cluttered carousels create cognitive load, pushing users directly to reorder lists.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OUR AI-POWERED INGESTION LOOP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Ingestion Flow:</a:t>
            </a:r>
            <a:br/>
            <a:r>
              <a:t>1,000 Multi-Channel Reviews -&gt; AI identifies themes -&gt; AI validates evidence -&gt; User Interviews -&gt; Prioritized Opportunity -&gt; MVP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Actionable Synthesis: Scrapes Play Store, iTunes RSS, Reddit, and Twitter. Resolves mixed regional slang (e.g. bekar service -&gt; service failure) and segments findings.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Target Opportunity: Solves delivery fee friction on auxiliary purchases to boost category testing.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Portfolio | AI Product Discovery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2 · AI INGESTION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The Sequential 7-Agent Ingestion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THE AI PIPELINE WORKFLOW (Mandatory Outline)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Data Ingestion: Scrapes reviews from Play Store, App Store, Reddit, and Twitter.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Normalization &amp; Cleaning: Removes duplicates, filters promo spam, and translates regional Hinglish slang.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Embedding Model: Feeds tokenized texts into 'text-embedding-3-small' model.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LLM Extraction: Runs GPT-4 &amp; Claude models to extract key categories, triggers, and friction points.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Unsupervised Clustering: Applies K-Means algorithm to isolate 4 semantic barrier themes.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Verification: Compares extracted insights against database counts to calculate validation confidence.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PROMPT ENGINEERING &amp; TECH STACK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Example Ingestion Prompt:</a:t>
            </a:r>
            <a:br/>
            <a:r>
              <a:t>"Group these reviews into themes. Return JSON with fields:</a:t>
            </a:r>
            <a:br/>
            <a:r>
              <a:t>  - Theme</a:t>
            </a:r>
            <a:br/>
            <a:r>
              <a:t>  - Frequency</a:t>
            </a:r>
            <a:br/>
            <a:r>
              <a:t>  - Representative Quote</a:t>
            </a:r>
            <a:br/>
            <a:r>
              <a:t>  - Confidence Score"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AI Core Tech Stack:</a:t>
            </a:r>
            <a:br/>
            <a:r>
              <a:t>  - Language: Python</a:t>
            </a:r>
            <a:br/>
            <a:r>
              <a:t>  - Relational Database: SQLite</a:t>
            </a:r>
            <a:br/>
            <a:r>
              <a:t>  - REST API Routing: FastAPI</a:t>
            </a:r>
            <a:br/>
            <a:r>
              <a:t>  - LLM Models: GPT-4 &amp; text-embeddings-3-small</a:t>
            </a:r>
            <a:br/>
            <a:r>
              <a:t>  - Unsupervised Clustering: K-Means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Portfolio | AI Product Discovery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2 · RESEARCH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Primary User Research &amp; Ingestion Quality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USER INTERVIEWS &amp; SATURATION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Primary Interviews:</a:t>
            </a:r>
            <a:br/>
            <a:r>
              <a:t>Conducted 6 semi-structured interviews via Google Meet (recorded, 125 mins total, avg 21m).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Core Roster:</a:t>
            </a:r>
            <a:br/>
            <a:r>
              <a:t>- Rohan (22m), Meera (26m), Kabir (18m), Priya (20m), Vijay (24m), Anand (15m).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Why 6 Interviews?:</a:t>
            </a:r>
            <a:br/>
            <a:r>
              <a:t>Six interviews were sufficient because no major new themes emerged after Interview #5 (theme saturation).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AI QUALITY VALIDATION &amp; LIMITATIONS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Operational Validation Methods:</a:t>
            </a:r>
            <a:br/>
            <a:r>
              <a:t>✓ Manual review of 100 random reviews to cross-check LLM labels.</a:t>
            </a:r>
            <a:br/>
            <a:r>
              <a:t>✓ Compared AI themes with interview findings for semantic alignment.</a:t>
            </a:r>
            <a:br/>
            <a:r>
              <a:t>✓ Automatically removed insights with confidence score &lt;80%.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Study Limitations:</a:t>
            </a:r>
            <a:br/>
            <a:r>
              <a:t>- Dataset skew: English reviews dominate scrapers.</a:t>
            </a:r>
            <a:br/>
            <a:r>
              <a:t>- Demographic skew: Social media channels skew younger.</a:t>
            </a:r>
            <a:br/>
            <a:r>
              <a:t>- Cohort size: Interviews limited to six users.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Portfolio | AI Product Discovery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2 · VALIDATION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Hypothesis Scorecard: Validating AI Insights with Research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441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1188720"/>
                <a:gridCol w="4144975"/>
                <a:gridCol w="2194560"/>
              </a:tblGrid>
              <a:tr h="762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Hypothesis/Theme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 %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AI Conf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Primary Research Finding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Validation Verdict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Recommendations stay anchored to past history.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95%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VJ and Rohan order identical milk in under 15s.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Home screen banner ads do not trigger exploration.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84%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Users skip promo banners due to visual clutter.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Checkout recommendations are rejected due to fees.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91%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Rohan abandons face wash to avoid small-cart fee.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Specification gaps block premium purchases.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88%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Priya buys baby diapers on Amazon for size charts.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append window will drive additions.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92%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Would use a fee-free sandbox window post-payment.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Portfolio | AI Product Discovery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3 · OPPORTUNITY PRIORITIZATION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Opportunity Prioritization: Why Post-Checkout Wins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WHY NOT AMAZON-STYLE RECOMMENDATIONS?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The Differentiator:</a:t>
            </a:r>
            <a:br/>
            <a:r>
              <a:t>- Amazon: Recommendations are shown BEFORE checkout. This creates decision friction, delaying the transaction.</a:t>
            </a:r>
            <a:br/>
            <a:r>
              <a:t>- Swiggy Instamart: Recommendations are shown AFTER payment in a dedicated 3-minute window.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Waiving the Friction:</a:t>
            </a:r>
            <a:br/>
            <a:r>
              <a:t>Waives delivery fee on the append items. This drives impulse additions without increasing logistics costs.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RICE matrix wins: Scoring wins on high Reach, high Impact, and low implementation Effort.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0" y="1645920"/>
          <a:ext cx="560801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731520"/>
                <a:gridCol w="731520"/>
                <a:gridCol w="731520"/>
                <a:gridCol w="853135"/>
              </a:tblGrid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Product Option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Reach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Conf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Effort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Smarter Filters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42.6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Crate Digger Chat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3.0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18.6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Window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1.2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106.6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Portfolio | AI Product Discovery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3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One Prioritized Solution: Predictive AI Personalization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AI INPUTS &amp; RANKING MODEL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Unified Ranking Inputs:</a:t>
            </a:r>
            <a:br/>
            <a:r>
              <a:t>[Previous Orders] + [Time/Season] + [Weather] + [Location] + [Current Basket] + [Similar Users]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Real-Time Recommendation Pipeline:</a:t>
            </a:r>
            <a:br/>
            <a:r>
              <a:t>1. Input collection &amp; feature mapping.</a:t>
            </a:r>
            <a:br/>
            <a:r>
              <a:t>2. Neural Ranking Model predicts purchase probability.</a:t>
            </a:r>
            <a:br/>
            <a:r>
              <a:t>3. LLM Explanation constructs personalized hook (e.g. "Usually bought with नंदिनी milk").</a:t>
            </a:r>
            <a:br/>
            <a:r>
              <a:t>4. FastAPI inventory check displays available items.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DYNAMIC PERSONALIZATION BENEFIT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Beyond Simple Rule Matches: Unlike static associations, the model evaluates context (e.g. recommending face wash during morning runs vs. baby care on weekends).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Wave the Friction: Removes delivery fee block for 3 minutes. The recommendation banner communicates ₹0 additional delivery fee.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Dark Store Synced: Dynamic FastAPI catalog filters guarantee that only in-stock items are recommended.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Portfolio | AI Product Discovery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4 · LIVE MVP PLAYGROUND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The Deployed MVP: 3-Minute Post-Checkout Add-On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2179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943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Interactive Deployed Checkout Sandbox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Checkout Simulator: Placing dairy essentials simulates payment completion and triggers the active 3-minute window.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Dynamic Countdown Banner: Displays an urgent timer counting down the dark store's packaging cycle.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Fee-Free Add-on Carousel: Displays organic avocados, dog treats, and face washes with ₹0 delivery fee. Selecting an item dynamically updates checkout totals.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5488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Arial"/>
              </a:defRPr>
            </a:pPr>
            <a:r>
              <a:t>Try the Deployed MVP: </a:t>
            </a:r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</p:txBody>
      </p:sp>
      <p:pic>
        <p:nvPicPr>
          <p:cNvPr id="8" name="Picture 7" descr="mvp_checkout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463040"/>
            <a:ext cx="466344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Portfolio | AI Product Discovery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4 · GTM 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Phased Rollout Strategy &amp; Experiment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0352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MVP PILOT EXPERIMENT DESIGN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Target Testing Cohort Split:</a:t>
            </a:r>
            <a:br/>
            <a:r>
              <a:t>- Treatment: Post-checkout add-on window with timer &amp; waived delivery fee.</a:t>
            </a:r>
            <a:br/>
            <a:r>
              <a:t>- Control: Current standard checkout flow (no window, full fees).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Experiment Metrics Measured:</a:t>
            </a:r>
            <a:br/>
            <a:r>
              <a:t>  - Primary: Cross-category purchase rate.</a:t>
            </a:r>
            <a:br/>
            <a:r>
              <a:t>  - Secondary: Average Order Value (AOV), Customer Retention, Packer/Rider SLA.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Sample Size Power: Trialed in Bangalore East dark store over 30 days to reach statistical power.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PHASED GTM AND SAFETY GATES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Phased Rollout stages:</a:t>
            </a:r>
            <a:br/>
            <a:r>
              <a:t>- Shadow Mode (Weeks 1-2): Measure baseline cycles.</a:t>
            </a:r>
            <a:br/>
            <a:r>
              <a:t>- Buffer Trial (Weeks 3-6): Launch in 1 dark store.</a:t>
            </a:r>
            <a:br/>
            <a:r>
              <a:t>- Expansion (Weeks 7-12): Scale to 10 dark stores.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Operational Lock-out Gates:</a:t>
            </a:r>
            <a:br/>
            <a:r>
              <a:t>- Packing status: Disable client UI if packing has started.</a:t>
            </a:r>
            <a:br/>
            <a:r>
              <a:t>- Weight Gate: Limit add-ons to items &lt;2kg.</a:t>
            </a:r>
            <a:br/>
            <a:r>
              <a:t>- Single-Rider: Append order merges into original package.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Portfolio | AI Product Discovery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Arial"/>
              </a:defRPr>
            </a:pPr>
            <a:r>
              <a:t>PART 4 · SUCCESS &amp;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C8019"/>
                </a:solidFill>
                <a:latin typeface="Arial"/>
              </a:defRPr>
            </a:pPr>
            <a:r>
              <a:t>Success Metrics, Formula &amp; GTM Risks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731520"/>
                <a:gridCol w="1005840"/>
                <a:gridCol w="1005840"/>
                <a:gridCol w="118872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Target 30D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Target 90D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Friction Solved</a:t>
                      </a:r>
                    </a:p>
                  </a:txBody>
                  <a:tcPr>
                    <a:solidFill>
                      <a:srgbClr val="222B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Gourmet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4.2%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18.5%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Delivery Fee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Personal Care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3.1%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8.5%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14.0%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Delivery Fee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Baby Care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1.8%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5.0%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9.5%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Size Charts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Pet Care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2.5%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7.0%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10m Dispatch</a:t>
                      </a:r>
                    </a:p>
                  </a:txBody>
                  <a:tcPr>
                    <a:solidFill>
                      <a:srgbClr val="151B2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297680"/>
            <a:ext cx="5486400" cy="173736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4348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SUCCESS FORMULA DEFINITION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Cross-Category Purchase Rate =</a:t>
            </a:r>
            <a:br/>
            <a:r>
              <a:t>[Users purchasing ≥1 new category] ÷ [Monthly Active Customers]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4572000"/>
          </a:xfrm>
          <a:prstGeom prst="roundRect">
            <a:avLst/>
          </a:prstGeom>
          <a:solidFill>
            <a:srgbClr val="151B2C"/>
          </a:solidFill>
          <a:ln w="12700">
            <a:solidFill>
              <a:srgbClr val="22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C8019"/>
                </a:solidFill>
                <a:latin typeface="Arial"/>
              </a:defRPr>
            </a:pPr>
            <a:r>
              <a:t>Success Metrics &amp; SLA Operational Guardrails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North Star Metric: Cross-Category Discovery Completion Rate (Target: 35% in 30 days).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SLA Guardrails (Daily Monitoring):</a:t>
            </a:r>
            <a:br/>
            <a:r>
              <a:t>  - Customer Retention SLA Delta: Keep &gt;98%.</a:t>
            </a:r>
            <a:br/>
            <a:r>
              <a:t>  - Delivery SLA Breach Rate: Keep 0% change.</a:t>
            </a:r>
            <a:br/>
            <a:r>
              <a:t>  - Packing Time Delta: Keep &lt;+15s.</a:t>
            </a:r>
            <a:br/>
            <a:r>
              <a:t>  - Order Cancellation Rate: Keep &lt;1% change.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Business Indicators (30-90 Days):</a:t>
            </a:r>
            <a:br/>
            <a:r>
              <a:t>  - Average Order Value (AOV) Delta: Target +18%.</a:t>
            </a:r>
            <a:br/>
            <a:r>
              <a:t>  - Revenue Per User / Contribution Margin Delta: Target +12% lift.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Swiggy Instamart Growth Portfolio | AI Product Discovery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1274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94A3B8"/>
                </a:solidFill>
                <a:latin typeface="Arial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