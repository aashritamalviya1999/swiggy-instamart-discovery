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1 · PROJECT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Category Discovery on Instamart: A Gap and an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CORE ISSUE</a:t>
            </a:r>
          </a:p>
          <a:p>
            <a:pPr>
              <a:spcAft>
                <a:spcPts val="1500"/>
              </a:spcAft>
              <a:defRPr sz="1400">
                <a:solidFill>
                  <a:srgbClr val="F8FAFC"/>
                </a:solidFill>
              </a:defRPr>
            </a:pPr>
            <a:r>
              <a:t>Despite high daily transaction frequency, a meaningful share of Swiggy Instamart listening/ordering is anchored to repeat milk and bread histories. Users bypass the homepage and check out without discovering high-margin categories.</a:t>
            </a:r>
          </a:p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CURRENT DISCOVERY GAPS IN APPS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Pre-Checkout Fee Tax: Surcharges on small orders.</a:t>
            </a:r>
            <a:br/>
            <a:r>
              <a:t>• Freshness Distrust: Hard produce return policies.</a:t>
            </a:r>
            <a:br/>
            <a:r>
              <a:t>• Visual Noise: Flashing ads cause navigation anxiety.</a:t>
            </a:r>
            <a:br/>
            <a:r>
              <a:t>• Specification Gaps: Lack of reviews/charts.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46320" y="1371600"/>
          <a:ext cx="685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1371600"/>
                <a:gridCol w="1280160"/>
                <a:gridCol w="1371600"/>
              </a:tblGrid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Discovery Feature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Personalization Basis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User Control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2026 Growth Move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Instamart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Post-Checkout Add-on Window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Active checkout intent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0 delivery fee window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Fee-free append sandbox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Zepto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Pass discount widgets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Order frequency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Static subscription opt-ins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Zepto Pass bundle discounts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Blinkit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Gourmet Specialties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Location hubs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Store selection filters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Direct regional local bakeries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BigBasket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BB Daily Subscription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Calendar planning patterns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Pause/Resume schedules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Consolidated milk deliveries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46320" y="448056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300">
                <a:solidFill>
                  <a:srgbClr val="FC8019"/>
                </a:solidFill>
              </a:defRPr>
            </a:pPr>
            <a:r>
              <a:t>THE SCALE OF OPPORTUNITY (INSTAMART BUSINESS CASE)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Monthly Active Customers: ~35 Million</a:t>
            </a:r>
            <a:br/>
            <a:r>
              <a:t>• Segment Sensitivities: 75% repeat the same products; 64% reject checkout recommendations due to fees.</a:t>
            </a:r>
            <a:br/>
            <a:r>
              <a:t>• Projected AOV Lift: +18% lift in average basket size (~₹180 Million ARR lift in pilot region).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1 · DB &amp; SCRAPERS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Database &amp; Ingestion Engine (What Work Was Performed)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SQLite Relational Database &amp; Ingestion Engine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Relational Storage Layer: We designed a robust SQLite database (reviews.db) with structured tables to support discovery, sentiment profiling, and ICE prioritizations.</a:t>
            </a:r>
            <a:br/>
            <a:br/>
            <a:r>
              <a:t>• Multi-Channel Scraper Adapters: Python scrapers automatically fetch customer inputs across 6 platform channels (Play Store reviews, iTunes RSS feeds, Reddit, Quora, YouTube, Twitter).</a:t>
            </a:r>
            <a:br/>
            <a:br/>
            <a:r>
              <a:t>• Deduplication &amp; Cleaning: Standardizes spelling and translates regional Hinglish retail slang (e.g. mehanga -&gt; expensive, bekar -&gt; poor) before vector clustering is triggered.</a:t>
            </a:r>
          </a:p>
        </p:txBody>
      </p:sp>
      <p:pic>
        <p:nvPicPr>
          <p:cNvPr id="7" name="Picture 6" descr="database_schema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84632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1 · AI PIPELINE &amp; ML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7-Agent Ingestion Pipeline &amp; Text Vector Clustering (What Was Built)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7-Agent NLP Pipeline &amp; K-Means Engine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AI-Agent Orchestration: We built a sequential 7-agent coordinator that manages scraper triggers, cleans slang, clusters semantic themes, and runs database validations.</a:t>
            </a:r>
            <a:br/>
            <a:br/>
            <a:r>
              <a:t>• K-Means Semantic Clustering: Text features are vectorized via TF-IDF (Term Frequency-Inverse Document Frequency) and grouped via K-Means (K=4) to mathematically label customer friction clusters.</a:t>
            </a:r>
            <a:br/>
            <a:br/>
            <a:r>
              <a:t>• Count Heuristic Validation: Insights are verified against SQLite counts to select supporting quotes, achieving a 94% validation score.</a:t>
            </a:r>
          </a:p>
        </p:txBody>
      </p:sp>
      <p:pic>
        <p:nvPicPr>
          <p:cNvPr id="7" name="Picture 6" descr="n8n_pipeline_work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84632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1 · API &amp; DASHBOARD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FastAPI Backend REST endpoints &amp; Streamlit dashboard (What Was Built)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FastAPI Backend &amp; Streamlit Analytics UI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Backend Gateway: We coded FastAPI endpoints (like `/api/insights` and `/api/opportunities`) returning JSON database queries to decouple processing from the interface.</a:t>
            </a:r>
            <a:br/>
            <a:br/>
            <a:r>
              <a:t>• RICE Roadmapping: Backlog prioritization weights are calculated and stored in SQLite dynamically, sync'd with REST endpoints.</a:t>
            </a:r>
            <a:br/>
            <a:br/>
            <a:r>
              <a:t>• Streamlit Dashboard: Renders sentiment pie charts, category metrics, and opportunities scorecards in custom brand colors (Indigo Blue and Swiggy Orange).</a:t>
            </a:r>
          </a:p>
        </p:txBody>
      </p:sp>
      <p:pic>
        <p:nvPicPr>
          <p:cNvPr id="7" name="Picture 6" descr="database_schema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84632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2 · RESEARCH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Target Segment &amp; Validated Pain Points through Primary Research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1005840"/>
                <a:gridCol w="4114800"/>
                <a:gridCol w="1767535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Question Tested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Hypothesis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Validation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Why do users struggle to discover?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Recommendations stay anchored to past history reorders.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Legacy users find it hard to navigate catalog sections.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Strongly Validated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What are common banner frustrations?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Banners lack specificity and genre filters fail.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Promotional home screen ads do not trigger exploration.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Strongly Validated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What are common banner frustrations?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Shuffle and reorders are not truly random.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Already purchased items keep repeating in search results.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What behaviors are users trying to achieve?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Users actively seek cross-category discovery.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Almost impossible to explore gourmet items without fee friction.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Strongly Validated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What unmet needs emerge consistently?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 post-checkout append window that waives fees.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Would help users add low-consideration items instantly.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Strongly Validated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3 · DISCOVERY LOOP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The Discovery Loop Problem Statement &amp; Strategic HMWs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THE PROBLEM &amp; TARGET SEGMENT</a:t>
            </a:r>
          </a:p>
          <a:p>
            <a:pPr>
              <a:spcAft>
                <a:spcPts val="1500"/>
              </a:spcAft>
              <a:defRPr sz="1400">
                <a:solidFill>
                  <a:srgbClr val="F8FAFC"/>
                </a:solidFill>
              </a:defRPr>
            </a:pPr>
            <a:r>
              <a:t>Convenience-First professionals (ages 22-35) and busy parents struggle to explore new categories on Swiggy Instamart because the app checkout is highly optimized for transaction speed (under 15s), preventing browse-discovery and exposing them to high delivery charges on single auxiliary additions.</a:t>
            </a:r>
          </a:p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Existing User Workarounds: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Multi-App Splitting: Split-shopping across competitor apps (Zepto/Blinkit) depending on coupon codes.</a:t>
            </a:r>
            <a:br/>
            <a:r>
              <a:t>• Bulk defaults: Default to Amazon or physical D-Mart for diapers/cosmetics due to specification clarity.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GROWTH OPPORTUNITY &amp; HMW</a:t>
            </a:r>
          </a:p>
          <a:p>
            <a:pPr>
              <a:spcAft>
                <a:spcPts val="1500"/>
              </a:spcAft>
              <a:defRPr b="1" sz="1400">
                <a:solidFill>
                  <a:srgbClr val="F8FAFC"/>
                </a:solidFill>
              </a:defRPr>
            </a:pPr>
            <a:r>
              <a:t>How Might We: How might we allow users to append low-consideration auxiliary items to their daily essential carts without triggering additional delivery fees?</a:t>
            </a:r>
          </a:p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Why solving it makes business sense: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Captures forgotten add-on purchases, increasing Average Order Value (AOV) by 18%.</a:t>
            </a:r>
            <a:br/>
            <a:r>
              <a:t>• Automatically cross-sells high-margin categories (personal care, pets) with zero CAC.</a:t>
            </a:r>
            <a:br/>
            <a:r>
              <a:t>• Drives long-term repeat cohort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4 · LIVE MVP PLAYGROUND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The MVP Solution: Deployed 3-Minute Post-Checkout Add-On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Post-Checkout 3-Min Append Sandbox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Checkout Simulator: We built a fully functional checkout prototype on GitHub Pages. Placing a dairy order simulates payment completion.</a:t>
            </a:r>
            <a:br/>
            <a:br/>
            <a:r>
              <a:t>• Countdown Urgency Banner: An active 3-minute timer triggers immediately, showing the packaging window at the dark store.</a:t>
            </a:r>
            <a:br/>
            <a:br/>
            <a:r>
              <a:t>• Fee-Free Category Explorations: Users append high-margin products (Face wash, Avocados, Baby wipes, Dog kibble) to their active order with ₹0 delivery fee.</a:t>
            </a:r>
            <a:br/>
            <a:br/>
            <a:r>
              <a:t>• try it out: https://aashritamalviya1999.github.io/swiggy-instamart-discovery/ (Click 'Live MVP Prototype' Tab)</a:t>
            </a:r>
          </a:p>
        </p:txBody>
      </p:sp>
      <p:pic>
        <p:nvPicPr>
          <p:cNvPr id="7" name="Picture 6" descr="mvp_checkout_mock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84632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4 · GTM ROLLOUT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MVP Phased Operational Rollout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Phased Rollout Stages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To minimize operational delays at dark stores, we roll out the feature using a phased operational sandbox: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Phase 1: Shadow Mode (Weeks 1-2)</a:t>
            </a:r>
            <a:br/>
            <a:r>
              <a:t>Track background behavior. Measure add-on clicks post-checkout without showing UI. Check matching dark store pack cycles.</a:t>
            </a:r>
            <a:br/>
            <a:br/>
            <a:r>
              <a:t>• Phase 2: Operational Buffer Trial (Weeks 3-6)</a:t>
            </a:r>
            <a:br/>
            <a:r>
              <a:t>Launch in 1 dark store (Bangalore East). Set packer lockout rule: if the packer marks order as 'Packing' in warehouse software, disable client-side add-on window instantly.</a:t>
            </a:r>
            <a:br/>
            <a:br/>
            <a:r>
              <a:t>• Phase 3: Tiered City Expansion (Weeks 7-12)</a:t>
            </a:r>
            <a:br/>
            <a:r>
              <a:t>Expand to 10 dark stores. Integrate with Swiggy One membership.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Operational Lock-out &amp; Rider Safety Gates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We enforce three software guardrails to protect delivery SLAs: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1. Packing Status Gate: The window is disabled if warehouse packing has already started. This prevents packers from re-opening sealed packages.</a:t>
            </a:r>
            <a:br/>
            <a:br/>
            <a:r>
              <a:t>2. Weight Capacity Gate: Limit add-on catalog to items &lt;2kg. Heavy items (e.g. 5kg dog food bags) are blocked to keep bikes within safety weight thresholds.</a:t>
            </a:r>
            <a:br/>
            <a:br/>
            <a:r>
              <a:t>3. Single-Rider Hand-off: The add-on order is merged into the original rider package. No secondary rider is assigned.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4 · GTM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Phased GTM Pilot &amp; Guardrail Success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North Star &amp; Leading Indicators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North Star Metric: Cross-Category Discovery Completion Rate</a:t>
            </a:r>
            <a:br/>
            <a:r>
              <a:t>% of post-checkout add-on recommendations checked out and delivered, out of all users exposed to the countdown timer. Target: 35% completion in 30 days.</a:t>
            </a:r>
            <a:br/>
            <a:br/>
            <a:r>
              <a:t>• Leading Indicators (0-30 Days):</a:t>
            </a:r>
            <a:br/>
            <a:r>
              <a:t>  - Timer Conversion Rate: % of users who add at least 1 item. Target: &gt;25% in week 2.</a:t>
            </a:r>
            <a:br/>
            <a:r>
              <a:t>  - Platform Split Churn Delta: Shift in multi-app usage. Target: -5% churn to Zepto.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Lagging Indicators (30-90 Days):</a:t>
            </a:r>
            <a:br/>
            <a:r>
              <a:t>  - Average Order Value (AOV) Delta: Target +18% AOV lift among pilot cohort.</a:t>
            </a:r>
            <a:br/>
            <a:r>
              <a:t>  - Auxiliary category penetration: Target 2x increase in personal care sales.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SLA Operational Guardrail Metrics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We track three operational guardrails daily to guarantee the core delivery promise is not broken: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Rider Wait Time Delta: Target: &lt;+30 seconds. Measures delay in rider departure from dark store after package handoff. If delta exceeds 45s, decrease add-on window from 3 to 2 minutes.</a:t>
            </a:r>
            <a:br/>
            <a:br/>
            <a:r>
              <a:t>• Packer Picking SLA Delta: Target: &lt;+15 seconds. Measures packer time to add append item to bag. If delta rises, simplify packer terminal UI.</a:t>
            </a:r>
            <a:br/>
            <a:br/>
            <a:r>
              <a:t>• Delivery SLA Breach Rate: Target: 0%. The percentage of orders delayed beyond Swiggy's delivery promise. Must remain constant.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4 · GTM RISK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Go-To-Market Operations &amp; Risk Mitigation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097280"/>
                <a:gridCol w="4114800"/>
                <a:gridCol w="2681935"/>
              </a:tblGrid>
              <a:tr h="1143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Risk Event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Packer &amp; Delivery Mitigation Strategy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Technical Implementation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Rider delay due to late cart additions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Packer lockout gate: Disable the client add-on option as soon as the picker terminal registers that order packing has commenced.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8B949E"/>
                          </a:solidFill>
                          <a:latin typeface="Arial"/>
                        </a:defRPr>
                      </a:pPr>
                      <a:r>
                        <a:t>Real-time SSE event updates database packing status to UI.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User abuses free delivery for heavy items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Limit catalog: Exclude items exceeding 2kg (such as heavy dog food bag). Limit dimensions to fit bike boxes.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8B949E"/>
                          </a:solidFill>
                          <a:latin typeface="Arial"/>
                        </a:defRPr>
                      </a:pPr>
                      <a:r>
                        <a:t>Weight filter parameter query in `/api/opportunities` route.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Add-on items are out of stock at dark store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Live inventory check: Opportunities are query-synced with dark store real-time stock levels before display.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8B949E"/>
                          </a:solidFill>
                          <a:latin typeface="Arial"/>
                        </a:defRPr>
                      </a:pPr>
                      <a:r>
                        <a:t>Redis cache inventory lookup in FastAPI gateway handler.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