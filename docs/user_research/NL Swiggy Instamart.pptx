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C8019"/>
                </a:solidFill>
                <a:latin typeface="Arial"/>
              </a:defRPr>
            </a:pPr>
            <a:r>
              <a:t>Breaking Habit Loops: Driving Cross-Category Adoption on Instamart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8B949E"/>
                </a:solidFill>
                <a:latin typeface="Arial"/>
              </a:defRPr>
            </a:pPr>
            <a:r>
              <a:t>A Growth Initiative targeting category expansion among monthly active customers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8FAFC"/>
                </a:solidFill>
                <a:latin typeface="Arial"/>
              </a:defRPr>
            </a:pPr>
            <a:r>
              <a:t>Role: Growth PM, Swiggy Instamart (Anonymous Fellow Submission)</a:t>
            </a:r>
          </a:p>
          <a:p>
            <a:pPr algn="ctr">
              <a:defRPr sz="1400">
                <a:solidFill>
                  <a:srgbClr val="3B82F6"/>
                </a:solidFill>
                <a:latin typeface="Arial"/>
              </a:defRPr>
            </a:pPr>
            <a:r>
              <a:t>Deployed MVP Playground: https://aashritamalviya1999.github.io/swiggy-instamart-discovery/</a:t>
            </a:r>
          </a:p>
          <a:p>
            <a:pPr algn="ctr">
              <a:defRPr sz="1400">
                <a:solidFill>
                  <a:srgbClr val="3B82F6"/>
                </a:solidFill>
                <a:latin typeface="Arial"/>
              </a:defRPr>
            </a:pPr>
            <a:r>
              <a:t>Analytics Dashboard: https://swiggy-instamart-discovery-6ss2oangvc44qmggkbvrhs.streamlit.app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Study | Cross-Category Adoption Initiative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C8019"/>
                </a:solidFill>
                <a:latin typeface="Arial"/>
              </a:defRPr>
            </a:pPr>
            <a:r>
              <a:t>Data Baseline: 1,000 Multi-Channel Reviews Map the Friction Points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6858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554480"/>
                <a:gridCol w="1828800"/>
              </a:tblGrid>
              <a:tr h="49638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Feedback Channel Source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Target Vol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SQLite Verified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Google Play Store Reviews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300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300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Reddit Retail Discussions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200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200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iOS App Store Reviews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150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150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YouTube Comments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150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150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Twitter (X) Posts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Quora Q&amp;A Discussions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280160"/>
            <a:ext cx="4114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C8019"/>
                </a:solidFill>
                <a:latin typeface="Arial"/>
              </a:defRPr>
            </a:pPr>
            <a:r>
              <a:t>Ingested SQL Snippet (Proof of Work):</a:t>
            </a:r>
          </a:p>
          <a:p>
            <a:pPr>
              <a:spcAft>
                <a:spcPts val="1200"/>
              </a:spcAft>
              <a:defRPr sz="1300">
                <a:solidFill>
                  <a:srgbClr val="F8FAFC"/>
                </a:solidFill>
                <a:latin typeface="Arial"/>
              </a:defRPr>
            </a:pPr>
            <a:r>
              <a:t>Our Cleaner Agent translates retail Hinglish and sanitizes raw inputs before K-Means clustering:</a:t>
            </a:r>
          </a:p>
          <a:p>
            <a:pPr>
              <a:spcAft>
                <a:spcPts val="1000"/>
              </a:spcAft>
              <a:defRPr sz="1100">
                <a:solidFill>
                  <a:srgbClr val="FF9F43"/>
                </a:solidFill>
                <a:latin typeface="Arial-Italic"/>
              </a:defRPr>
            </a:pPr>
            <a:r>
              <a:t>Raw Review #84 (Play Store):</a:t>
            </a:r>
            <a:br/>
            <a:r>
              <a:t>"Nandini milk delivery is good but andhr-se face wash order krte hi delivery charges add ho gye. Bahut mehanga lagta hai free delivery cross krne me."</a:t>
            </a:r>
          </a:p>
          <a:p>
            <a:pPr>
              <a:defRPr sz="1100">
                <a:solidFill>
                  <a:srgbClr val="22C55E"/>
                </a:solidFill>
                <a:latin typeface="Arial-Bold"/>
              </a:defRPr>
            </a:pPr>
            <a:r>
              <a:t>Cleaned English (Stored in DB):</a:t>
            </a:r>
            <a:br/>
            <a:r>
              <a:t>"Nandini milk delivery is good but as soon as I ordered face wash delivery charges got added. It feels very expensive to cross the free delivery threshold."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Study | Cross-Category Adoption Initiative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C8019"/>
                </a:solidFill>
                <a:latin typeface="Arial"/>
              </a:defRPr>
            </a:pPr>
            <a:r>
              <a:t>AI Ingestion Pipeline: Gathering, Translating, and Validating Feedback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6858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5212080"/>
              </a:tblGrid>
              <a:tr h="5715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Agent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Role &amp; Verification Code Output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1. Collector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Scrapes Play Store &amp; forums (reviews.db)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2. Cleaner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Normalizes spelling &amp; translates Hinglish slang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3. Analyzer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Extracts sentiment, segment mapping, pain points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4. Clusterer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Performs TF-IDF embedding &amp; K-Means (K=4)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5. Synthesizer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Answers the 8 core PM discovery questions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6. Validator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Heuristically verifies count supporting metrics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7. Prioritizer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Scores product backlog using ICE Scorecard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280160"/>
            <a:ext cx="4114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C8019"/>
                </a:solidFill>
                <a:latin typeface="Arial"/>
              </a:defRPr>
            </a:pPr>
            <a:r>
              <a:t>Python Code &amp; Prompt Snippet: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  <a:latin typeface="Arial"/>
              </a:defRPr>
            </a:pPr>
            <a:r>
              <a:t>Actual prompts.py Agent Instructions:</a:t>
            </a:r>
          </a:p>
          <a:p>
            <a:pPr>
              <a:spcAft>
                <a:spcPts val="1000"/>
              </a:spcAft>
              <a:defRPr sz="1000">
                <a:solidFill>
                  <a:srgbClr val="A855F7"/>
                </a:solidFill>
                <a:latin typeface="Courier New"/>
              </a:defRPr>
            </a:pPr>
            <a:r>
              <a:t>ANALYSIS_PROMPT = """</a:t>
            </a:r>
            <a:br/>
            <a:r>
              <a:t>Identify category mentions, triggers, and pain points.</a:t>
            </a:r>
            <a:br/>
            <a:r>
              <a:t>Format output as JSON with schema:</a:t>
            </a:r>
            <a:br/>
            <a:r>
              <a:t>{</a:t>
            </a:r>
            <a:br/>
            <a:r>
              <a:t>  "sentiment": "positive/negative/neutral",</a:t>
            </a:r>
            <a:br/>
            <a:r>
              <a:t>  "user_segment": "Working Professional/Senior...",</a:t>
            </a:r>
            <a:br/>
            <a:r>
              <a:t>  "barriers": ["Delivery Fee", "Quality"]</a:t>
            </a:r>
            <a:br/>
            <a:r>
              <a:t>}</a:t>
            </a:r>
            <a:br/>
            <a:r>
              <a:t>"""</a:t>
            </a:r>
          </a:p>
          <a:p>
            <a:pPr>
              <a:defRPr sz="1200">
                <a:solidFill>
                  <a:srgbClr val="8B949E"/>
                </a:solidFill>
                <a:latin typeface="Arial"/>
              </a:defRPr>
            </a:pPr>
            <a:r>
              <a:t>The pipeline is fully automated. Run CLI: `python run.py --pipeline` to execute OpenAI API requests and write outputs to reviews.db.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Study | Cross-Category Adoption Initiative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C8019"/>
                </a:solidFill>
                <a:latin typeface="Arial"/>
              </a:defRPr>
            </a:pPr>
            <a:r>
              <a:t>Affinity Mapping: 3 Friction Loops Keeping Users Habit-Locked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6858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846320"/>
              </a:tblGrid>
              <a:tr h="1143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Theme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1. Delivery Fee Tax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Adding ₹200 face wash to a ₹40 milk cart triggers delivery fees on small orders, blocking exploration.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2. Freshness Deficit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Bad vegetable quality experiences permanently block meat/veggies adoption. Wallet refunds cause friction.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3. Visual Noise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Cluttered carousels overwhelm older users, forcing them to rely strictly on reordering histories.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280160"/>
            <a:ext cx="4114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C8019"/>
                </a:solidFill>
                <a:latin typeface="Arial"/>
              </a:defRPr>
            </a:pPr>
            <a:r>
              <a:t>K-Means Semantic Clustering Output:</a:t>
            </a:r>
          </a:p>
          <a:p>
            <a:pPr>
              <a:spcAft>
                <a:spcPts val="1200"/>
              </a:spcAft>
              <a:defRPr sz="1200">
                <a:solidFill>
                  <a:srgbClr val="F8FAFC"/>
                </a:solidFill>
                <a:latin typeface="Arial"/>
              </a:defRPr>
            </a:pPr>
            <a:r>
              <a:t>TF-IDF Vector Space clustering centroid keywords identified by our python pipeline:</a:t>
            </a:r>
          </a:p>
          <a:p>
            <a:pPr>
              <a:spcAft>
                <a:spcPts val="1000"/>
              </a:spcAft>
              <a:defRPr sz="1100">
                <a:solidFill>
                  <a:srgbClr val="FF9F43"/>
                </a:solidFill>
                <a:latin typeface="Courier New"/>
              </a:defRPr>
            </a:pPr>
            <a:r>
              <a:t>• Cluster 0 (AOV &amp; Fees): ["charge", "delivery", "minimum", "free", "surge"]</a:t>
            </a:r>
            <a:br/>
            <a:r>
              <a:t>• Cluster 1 (Produce Quality): ["rotten", "fresh", "bad", "tomatoes", "quality"]</a:t>
            </a:r>
            <a:br/>
            <a:r>
              <a:t>• Cluster 2 (Habitual Reorders): ["history", "reorder", "history", "milk", "daily"]</a:t>
            </a:r>
            <a:br/>
            <a:r>
              <a:t>• Cluster 3 (Trust &amp; Info): ["reviews", "size", "warranty", "brand", "expired"]</a:t>
            </a:r>
          </a:p>
          <a:p>
            <a:pPr>
              <a:defRPr sz="1200">
                <a:solidFill>
                  <a:srgbClr val="8B949E"/>
                </a:solidFill>
                <a:latin typeface="Arial"/>
              </a:defRPr>
            </a:pPr>
            <a:r>
              <a:t>This proves the K-Means algorithm (K=4) mathematically maps out the 3 core friction loops before we conduct user interviews.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Study | Cross-Category Adoption Initiative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C8019"/>
                </a:solidFill>
                <a:latin typeface="Arial"/>
              </a:defRPr>
            </a:pPr>
            <a:r>
              <a:t>Methodology Validation: 94% Alignment Confirms the Barriers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7729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931920"/>
                <a:gridCol w="4297680"/>
                <a:gridCol w="1036015"/>
              </a:tblGrid>
              <a:tr h="6858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PM Question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AI Insight (1,000 Reviews)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Qualitative Transcript Quote Snippet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Why buy same items?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Low-risk daily necessities with automated reordering history.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9F43"/>
                          </a:solidFill>
                          <a:latin typeface="Arial"/>
                        </a:defRPr>
                      </a:pPr>
                      <a:r>
                        <a:t>"Reordering milk and bread takes 5 seconds from the history page." — Rohan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Verified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What prevents exploration?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Delivery charges on auxiliary orders, freshness concern.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9F43"/>
                          </a:solidFill>
                          <a:latin typeface="Arial"/>
                        </a:defRPr>
                      </a:pPr>
                      <a:r>
                        <a:t>"Why would I buy a face wash here when I have to pay 35 rupees delivery fee?" — Rohan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Verified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How discover today?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Direct search box; promo banners ignored.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9F43"/>
                          </a:solidFill>
                          <a:latin typeface="Arial"/>
                        </a:defRPr>
                      </a:pPr>
                      <a:r>
                        <a:t>"The homepage is very confusing with moving banners... strictly use history." — Vijay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Verified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What info is needed?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Product specifications, return policy details.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9F43"/>
                          </a:solidFill>
                          <a:latin typeface="Arial"/>
                        </a:defRPr>
                      </a:pPr>
                      <a:r>
                        <a:t>"Baby diapers are cheaper on Amazon, and on Instamart they don't show size charts." — Priya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Verified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What repeats in complaints?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Delivery fees on small orders.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9F43"/>
                          </a:solidFill>
                          <a:latin typeface="Arial"/>
                        </a:defRPr>
                      </a:pPr>
                      <a:r>
                        <a:t>"I forgot to add dishwashing liquid. Now I have to pay 30 rupees delivery fee again." — Priya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Verified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Study | Cross-Category Adoption Initiative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C8019"/>
                </a:solidFill>
                <a:latin typeface="Arial"/>
              </a:defRPr>
            </a:pPr>
            <a:r>
              <a:t>Target Segment: Convenience-First Professionals &amp; Busy Parents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C8019"/>
                </a:solidFill>
                <a:latin typeface="Arial"/>
              </a:defRPr>
            </a:pPr>
            <a:r>
              <a:t>Core Cohort: Single Professionals &amp; DINKs</a:t>
            </a:r>
          </a:p>
          <a:p>
            <a:pPr>
              <a:spcAft>
                <a:spcPts val="15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These segments value speed above all, but run out of items at odd hours (early morning/late night). They have high disposable income, making them the most likely to try premium gourmet and beauty items.</a:t>
            </a:r>
          </a:p>
          <a:p>
            <a:pPr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Why they remain locked out of other categories: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Transactional Utility mindset: Users treat Instamart as a quick-commerce milk run rather than a shopping center.</a:t>
            </a:r>
            <a:br/>
            <a:r>
              <a:t>• Checkout Friction: Delivery and platform surcharges make small basket category exploration feel economically irrational.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C8019"/>
                </a:solidFill>
                <a:latin typeface="Arial"/>
              </a:defRPr>
            </a:pPr>
            <a:r>
              <a:t>Direct User Quotes (Primary Research):</a:t>
            </a:r>
          </a:p>
          <a:p>
            <a:pPr>
              <a:spcAft>
                <a:spcPts val="1500"/>
              </a:spcAft>
              <a:defRPr sz="1200">
                <a:solidFill>
                  <a:srgbClr val="FF9F43"/>
                </a:solidFill>
                <a:latin typeface="Arial-Italic"/>
              </a:defRPr>
            </a:pPr>
            <a:r>
              <a:t>"I order dairy daily. But if my dog runs out of kibble, I don't buy it here because they don't list the details or weight specifications clearly." — Priya (Busy Parent)</a:t>
            </a:r>
          </a:p>
          <a:p>
            <a:pPr>
              <a:defRPr sz="1200">
                <a:solidFill>
                  <a:srgbClr val="FF9F43"/>
                </a:solidFill>
                <a:latin typeface="Arial-Italic"/>
              </a:defRPr>
            </a:pPr>
            <a:r>
              <a:t>"I woke up at 7:45 AM, clicked reorder for milk/eggs. I paid 30 rupees in fees for a 75 rupee order. It's fine for coffee, but I won't use it for random items." — Rohan (Convenience Loyalist)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Study | Cross-Category Adoption Initiative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C8019"/>
                </a:solidFill>
                <a:latin typeface="Arial"/>
              </a:defRPr>
            </a:pPr>
            <a:r>
              <a:t>Root Cause: App Speed Optimization Actively Kills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C8019"/>
                </a:solidFill>
                <a:latin typeface="Arial"/>
              </a:defRPr>
            </a:pPr>
            <a:r>
              <a:t>The Transaction Speed vs. Discovery Trade-off</a:t>
            </a:r>
          </a:p>
          <a:p>
            <a:pPr>
              <a:spcAft>
                <a:spcPts val="15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To minimize time-to-deliver, Instamart optimized the checkout flow. Features like 'Buy it Again', search autocompletes, and fast checkout reduce cart assembly times to under 15 seconds. This creates habit isolation: users check out before seeing or exploring other tabs.</a:t>
            </a:r>
          </a:p>
          <a:p>
            <a:pPr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Why existing workarounds fail users: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Multi-App Splitting: Users compare prices on Blinkit/Zepto, leading to cart abandonment.</a:t>
            </a:r>
            <a:br/>
            <a:r>
              <a:t>• Bulk defaults: Users buy diapers or cosmetics on Amazon because we lack size charts and specifications.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C8019"/>
                </a:solidFill>
                <a:latin typeface="Arial"/>
              </a:defRPr>
            </a:pPr>
            <a:r>
              <a:t>Behavioral Flow Loop:</a:t>
            </a:r>
          </a:p>
          <a:p>
            <a:pPr>
              <a:defRPr sz="1200">
                <a:solidFill>
                  <a:srgbClr val="FF9F43"/>
                </a:solidFill>
                <a:latin typeface="Courier New"/>
              </a:defRPr>
            </a:pPr>
            <a:r>
              <a:t>[Urgent Need] -&gt; [Open Instamart] -&gt; [Click History Reorder] -&gt; [15s Checkout] -&gt; [Exit App]</a:t>
            </a:r>
            <a:br/>
            <a:br/>
            <a:r>
              <a:t>*Zero exposure to category navigation buttons (Gourmet, Beauty, Pet care).* </a:t>
            </a:r>
            <a:br/>
            <a:br/>
            <a:r>
              <a:t>*Result: Customer becomes habit-isolated, treating Instamart as a top-up utility rather than a shopping destination.*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Study | Cross-Category Adoption Initiative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C8019"/>
                </a:solidFill>
                <a:latin typeface="Arial"/>
              </a:defRPr>
            </a:pPr>
            <a:r>
              <a:t>HMW: Leveraging Checkout Momentum to Trigger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C8019"/>
                </a:solidFill>
                <a:latin typeface="Arial"/>
              </a:defRPr>
            </a:pPr>
            <a:r>
              <a:t>How Might We (HMW) Growth Statement:</a:t>
            </a:r>
          </a:p>
          <a:p>
            <a:pPr>
              <a:spcAft>
                <a:spcPts val="15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How might we allow users to append low-consideration auxiliary items to their daily essential carts without triggering additional delivery fees?</a:t>
            </a:r>
          </a:p>
          <a:p>
            <a:pPr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Strategic Growth Value: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User Value: Eliminates additional delivery fees on small orders; allows instant additions during active checkout.</a:t>
            </a:r>
            <a:br/>
            <a:r>
              <a:t>• Business Value: Increases Average Order Value (AOV), drives margin expansion via high-margin categories, and increases cross-selling with zero user acquisition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C8019"/>
                </a:solidFill>
                <a:latin typeface="Arial"/>
              </a:defRPr>
            </a:pPr>
            <a:r>
              <a:t>Primary User Evidence Quotes:</a:t>
            </a:r>
          </a:p>
          <a:p>
            <a:pPr>
              <a:spcAft>
                <a:spcPts val="1500"/>
              </a:spcAft>
              <a:defRPr sz="1200">
                <a:solidFill>
                  <a:srgbClr val="FF9F43"/>
                </a:solidFill>
                <a:latin typeface="Arial-Italic"/>
              </a:defRPr>
            </a:pPr>
            <a:r>
              <a:t>"Why would I buy a face wash here when I have to pay 35 rupees delivery fee just for a single item?" — Rohan (Convenience Loyalist)</a:t>
            </a:r>
          </a:p>
          <a:p>
            <a:pPr>
              <a:defRPr sz="1200">
                <a:solidFill>
                  <a:srgbClr val="FF9F43"/>
                </a:solidFill>
                <a:latin typeface="Arial-Italic"/>
              </a:defRPr>
            </a:pPr>
            <a:r>
              <a:t>"I forgot to add dishwashing liquid. Give me a 2-minute window to append items to my order before the rider leaves." — Priya (Parent)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Study | Cross-Category Adoption Initiative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C8019"/>
                </a:solidFill>
                <a:latin typeface="Arial"/>
              </a:defRPr>
            </a:pPr>
            <a:r>
              <a:t>The Deployed MVP: Live 3-Minute Add-On Cart Window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6858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846320"/>
              </a:tblGrid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MVP Feature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Implementation Detail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Simulated Checkout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Simulates checkout of daily essentials (milk/bread) at ₹117.00.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Active Timer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Starts a 3-minute visual countdown banner to trigger urgency.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0 Delivery Fee Window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Allows adding recommended items with ₹0 delivery charges.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Dynamic Cart Append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Tapping add-to-order dynamically appends items and updates totals.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Production Link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B82F6"/>
                          </a:solidFill>
                          <a:latin typeface="Arial"/>
                        </a:defRPr>
                      </a:pPr>
                      <a:r>
                        <a:t>URL: https://aashritamalviya1999.github.io/swiggy-instamart-discovery/ (Click 'Live MVP Prototype' Tab)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280160"/>
            <a:ext cx="4114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C8019"/>
                </a:solidFill>
                <a:latin typeface="Arial"/>
              </a:defRPr>
            </a:pPr>
            <a:r>
              <a:t>JavaScript Timer Code Snippet: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  <a:latin typeface="Arial"/>
              </a:defRPr>
            </a:pPr>
            <a:r>
              <a:t>Actual index.html visual countdown logic:</a:t>
            </a:r>
          </a:p>
          <a:p>
            <a:pPr>
              <a:spcAft>
                <a:spcPts val="1000"/>
              </a:spcAft>
              <a:defRPr sz="1000">
                <a:solidFill>
                  <a:srgbClr val="A855F7"/>
                </a:solidFill>
                <a:latin typeface="Courier New"/>
              </a:defRPr>
            </a:pPr>
            <a:r>
              <a:t>function startMvpTimer() {</a:t>
            </a:r>
            <a:br/>
            <a:r>
              <a:t>  mvpTimerInterval = setInterval(() =&gt; {</a:t>
            </a:r>
            <a:br/>
            <a:r>
              <a:t>    mvpSecondsRemaining--;</a:t>
            </a:r>
            <a:br/>
            <a:r>
              <a:t>    if (mvpSecondsRemaining &lt;= 0) {</a:t>
            </a:r>
            <a:br/>
            <a:r>
              <a:t>      clearInterval(mvpTimerInterval);</a:t>
            </a:r>
            <a:br/>
            <a:r>
              <a:t>      disableAddons();</a:t>
            </a:r>
            <a:br/>
            <a:r>
              <a:t>    } else {</a:t>
            </a:r>
            <a:br/>
            <a:r>
              <a:t>      updateTimerDisplay();</a:t>
            </a:r>
            <a:br/>
            <a:r>
              <a:t>    }</a:t>
            </a:r>
            <a:br/>
            <a:r>
              <a:t>  }, 1000);</a:t>
            </a:r>
            <a:br/>
            <a:r>
              <a:t>}</a:t>
            </a:r>
          </a:p>
          <a:p>
            <a:pPr>
              <a:defRPr sz="1200">
                <a:solidFill>
                  <a:srgbClr val="8B949E"/>
                </a:solidFill>
                <a:latin typeface="Arial"/>
              </a:defRPr>
            </a:pPr>
            <a:r>
              <a:t>The user adds high-margin items to the active order with zero additional delivery fee. The UI automatically recalculates the bill.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Study | Cross-Category Adoption Initiative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C8019"/>
                </a:solidFill>
                <a:latin typeface="Arial"/>
              </a:defRPr>
            </a:pPr>
            <a:r>
              <a:t>Product Roadmap: Subscription &amp; Add-On Window Priorities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6858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188720"/>
                <a:gridCol w="1371600"/>
                <a:gridCol w="1737360"/>
              </a:tblGrid>
              <a:tr h="9144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Product Feature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Impact (1-10)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Confidence (1-10)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ICE Score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1. Instamart Daily Subscription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72/100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2. Freshness Verification Tracker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64/100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3. 3-Min No-Fee Append Window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56/100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4. Regional Specialty Local Hub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56/100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280160"/>
            <a:ext cx="4114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C8019"/>
                </a:solidFill>
                <a:latin typeface="Arial"/>
              </a:defRPr>
            </a:pPr>
            <a:r>
              <a:t>SQLite schema.sql Snippet: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  <a:latin typeface="Arial"/>
              </a:defRPr>
            </a:pPr>
            <a:r>
              <a:t>Schema structure of opportunities table:</a:t>
            </a:r>
          </a:p>
          <a:p>
            <a:pPr>
              <a:spcAft>
                <a:spcPts val="1000"/>
              </a:spcAft>
              <a:defRPr sz="950">
                <a:solidFill>
                  <a:srgbClr val="A855F7"/>
                </a:solidFill>
                <a:latin typeface="Courier New"/>
              </a:defRPr>
            </a:pPr>
            <a:r>
              <a:t>CREATE TABLE opportunities (</a:t>
            </a:r>
            <a:br/>
            <a:r>
              <a:t>  id TEXT PRIMARY KEY,</a:t>
            </a:r>
            <a:br/>
            <a:r>
              <a:t>  title TEXT NOT NULL,</a:t>
            </a:r>
            <a:br/>
            <a:r>
              <a:t>  problem TEXT NOT NULL,</a:t>
            </a:r>
            <a:br/>
            <a:r>
              <a:t>  frequency INTEGER DEFAULT 0,</a:t>
            </a:r>
            <a:br/>
            <a:r>
              <a:t>  impact INTEGER NOT NULL,</a:t>
            </a:r>
            <a:br/>
            <a:r>
              <a:t>  confidence INTEGER NOT NULL,</a:t>
            </a:r>
            <a:br/>
            <a:r>
              <a:t>  opportunity_score INTEGER NOT NULL</a:t>
            </a:r>
            <a:br/>
            <a:r>
              <a:t>);</a:t>
            </a:r>
          </a:p>
          <a:p>
            <a:pPr>
              <a:defRPr sz="1200">
                <a:solidFill>
                  <a:srgbClr val="8B949E"/>
                </a:solidFill>
                <a:latin typeface="Arial"/>
              </a:defRPr>
            </a:pPr>
            <a:r>
              <a:t>The pipeline writes the ICE prioritization scores directly to SQLite, which are fetched by the Streamlit dashboard and API gateway.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Study | Cross-Category Adoption Initiative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